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sldIdLst>
    <p:sldId id="256" r:id="rId2"/>
    <p:sldId id="277" r:id="rId3"/>
    <p:sldId id="278"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59" d="100"/>
          <a:sy n="59" d="100"/>
        </p:scale>
        <p:origin x="56" y="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8E9AC-541F-91FB-DB12-3368F0119A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293A07-3A41-CA1C-81E6-F98550623A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D94BCB-B818-8D56-F1D1-CF2ADD79802C}"/>
              </a:ext>
            </a:extLst>
          </p:cNvPr>
          <p:cNvSpPr>
            <a:spLocks noGrp="1"/>
          </p:cNvSpPr>
          <p:nvPr>
            <p:ph type="dt" sz="half" idx="10"/>
          </p:nvPr>
        </p:nvSpPr>
        <p:spPr/>
        <p:txBody>
          <a:bodyPr/>
          <a:lstStyle/>
          <a:p>
            <a:fld id="{2AD17431-A23F-481B-A692-CC550271104B}" type="datetimeFigureOut">
              <a:rPr lang="en-US" smtClean="0"/>
              <a:t>2/27/2026</a:t>
            </a:fld>
            <a:endParaRPr lang="en-US"/>
          </a:p>
        </p:txBody>
      </p:sp>
      <p:sp>
        <p:nvSpPr>
          <p:cNvPr id="5" name="Footer Placeholder 4">
            <a:extLst>
              <a:ext uri="{FF2B5EF4-FFF2-40B4-BE49-F238E27FC236}">
                <a16:creationId xmlns:a16="http://schemas.microsoft.com/office/drawing/2014/main" id="{FB1DE7FB-D30E-BA66-426B-613CA8CE74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31902A-43D6-E386-4574-1F699DC23297}"/>
              </a:ext>
            </a:extLst>
          </p:cNvPr>
          <p:cNvSpPr>
            <a:spLocks noGrp="1"/>
          </p:cNvSpPr>
          <p:nvPr>
            <p:ph type="sldNum" sz="quarter" idx="12"/>
          </p:nvPr>
        </p:nvSpPr>
        <p:spPr/>
        <p:txBody>
          <a:bodyPr/>
          <a:lstStyle/>
          <a:p>
            <a:fld id="{1E9F3B15-DA2A-46A9-9929-866C97AD3B56}" type="slidenum">
              <a:rPr lang="en-US" smtClean="0"/>
              <a:t>‹#›</a:t>
            </a:fld>
            <a:endParaRPr lang="en-US"/>
          </a:p>
        </p:txBody>
      </p:sp>
    </p:spTree>
    <p:extLst>
      <p:ext uri="{BB962C8B-B14F-4D97-AF65-F5344CB8AC3E}">
        <p14:creationId xmlns:p14="http://schemas.microsoft.com/office/powerpoint/2010/main" val="2265876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C064E-2701-6ED5-0462-CFDF2C9634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EDD072-EFDD-B14E-3590-B787219F18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DDA670-CA7F-84B9-5935-9FB0C6CAC4B0}"/>
              </a:ext>
            </a:extLst>
          </p:cNvPr>
          <p:cNvSpPr>
            <a:spLocks noGrp="1"/>
          </p:cNvSpPr>
          <p:nvPr>
            <p:ph type="dt" sz="half" idx="10"/>
          </p:nvPr>
        </p:nvSpPr>
        <p:spPr/>
        <p:txBody>
          <a:bodyPr/>
          <a:lstStyle/>
          <a:p>
            <a:fld id="{2AD17431-A23F-481B-A692-CC550271104B}" type="datetimeFigureOut">
              <a:rPr lang="en-US" smtClean="0"/>
              <a:t>2/27/2026</a:t>
            </a:fld>
            <a:endParaRPr lang="en-US"/>
          </a:p>
        </p:txBody>
      </p:sp>
      <p:sp>
        <p:nvSpPr>
          <p:cNvPr id="5" name="Footer Placeholder 4">
            <a:extLst>
              <a:ext uri="{FF2B5EF4-FFF2-40B4-BE49-F238E27FC236}">
                <a16:creationId xmlns:a16="http://schemas.microsoft.com/office/drawing/2014/main" id="{3284B922-D964-5894-D476-8A70C63D2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DF9170-DD79-34E9-3408-F1C018EDB491}"/>
              </a:ext>
            </a:extLst>
          </p:cNvPr>
          <p:cNvSpPr>
            <a:spLocks noGrp="1"/>
          </p:cNvSpPr>
          <p:nvPr>
            <p:ph type="sldNum" sz="quarter" idx="12"/>
          </p:nvPr>
        </p:nvSpPr>
        <p:spPr/>
        <p:txBody>
          <a:bodyPr/>
          <a:lstStyle/>
          <a:p>
            <a:fld id="{1E9F3B15-DA2A-46A9-9929-866C97AD3B56}" type="slidenum">
              <a:rPr lang="en-US" smtClean="0"/>
              <a:t>‹#›</a:t>
            </a:fld>
            <a:endParaRPr lang="en-US"/>
          </a:p>
        </p:txBody>
      </p:sp>
    </p:spTree>
    <p:extLst>
      <p:ext uri="{BB962C8B-B14F-4D97-AF65-F5344CB8AC3E}">
        <p14:creationId xmlns:p14="http://schemas.microsoft.com/office/powerpoint/2010/main" val="3836158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9205F-EC82-4F5D-E8D6-2C168F3B16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835616-9AB3-83F9-EC1C-7F38C9807D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1734C7-B867-03BC-AE78-A0A993EE8A29}"/>
              </a:ext>
            </a:extLst>
          </p:cNvPr>
          <p:cNvSpPr>
            <a:spLocks noGrp="1"/>
          </p:cNvSpPr>
          <p:nvPr>
            <p:ph type="dt" sz="half" idx="10"/>
          </p:nvPr>
        </p:nvSpPr>
        <p:spPr/>
        <p:txBody>
          <a:bodyPr/>
          <a:lstStyle/>
          <a:p>
            <a:fld id="{2AD17431-A23F-481B-A692-CC550271104B}" type="datetimeFigureOut">
              <a:rPr lang="en-US" smtClean="0"/>
              <a:t>2/27/2026</a:t>
            </a:fld>
            <a:endParaRPr lang="en-US"/>
          </a:p>
        </p:txBody>
      </p:sp>
      <p:sp>
        <p:nvSpPr>
          <p:cNvPr id="5" name="Footer Placeholder 4">
            <a:extLst>
              <a:ext uri="{FF2B5EF4-FFF2-40B4-BE49-F238E27FC236}">
                <a16:creationId xmlns:a16="http://schemas.microsoft.com/office/drawing/2014/main" id="{E5F6C6A0-A79B-3477-D287-F931A301C3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D0D8C6-224A-3DB0-B8E5-FA5466B0F177}"/>
              </a:ext>
            </a:extLst>
          </p:cNvPr>
          <p:cNvSpPr>
            <a:spLocks noGrp="1"/>
          </p:cNvSpPr>
          <p:nvPr>
            <p:ph type="sldNum" sz="quarter" idx="12"/>
          </p:nvPr>
        </p:nvSpPr>
        <p:spPr/>
        <p:txBody>
          <a:bodyPr/>
          <a:lstStyle/>
          <a:p>
            <a:fld id="{1E9F3B15-DA2A-46A9-9929-866C97AD3B56}" type="slidenum">
              <a:rPr lang="en-US" smtClean="0"/>
              <a:t>‹#›</a:t>
            </a:fld>
            <a:endParaRPr lang="en-US"/>
          </a:p>
        </p:txBody>
      </p:sp>
    </p:spTree>
    <p:extLst>
      <p:ext uri="{BB962C8B-B14F-4D97-AF65-F5344CB8AC3E}">
        <p14:creationId xmlns:p14="http://schemas.microsoft.com/office/powerpoint/2010/main" val="3784730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1DB6E-E97F-AAE3-E3AB-D178D05BF6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127AC7-6959-E1CC-CE51-325B848882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6FF297-DB0C-81C4-131D-F2B52FFBB7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C0BC09-F9B2-1348-6C24-27DAB024BB9F}"/>
              </a:ext>
            </a:extLst>
          </p:cNvPr>
          <p:cNvSpPr>
            <a:spLocks noGrp="1"/>
          </p:cNvSpPr>
          <p:nvPr>
            <p:ph type="dt" sz="half" idx="10"/>
          </p:nvPr>
        </p:nvSpPr>
        <p:spPr/>
        <p:txBody>
          <a:bodyPr/>
          <a:lstStyle/>
          <a:p>
            <a:fld id="{2AD17431-A23F-481B-A692-CC550271104B}" type="datetimeFigureOut">
              <a:rPr lang="en-US" smtClean="0"/>
              <a:t>2/27/2026</a:t>
            </a:fld>
            <a:endParaRPr lang="en-US"/>
          </a:p>
        </p:txBody>
      </p:sp>
      <p:sp>
        <p:nvSpPr>
          <p:cNvPr id="6" name="Footer Placeholder 5">
            <a:extLst>
              <a:ext uri="{FF2B5EF4-FFF2-40B4-BE49-F238E27FC236}">
                <a16:creationId xmlns:a16="http://schemas.microsoft.com/office/drawing/2014/main" id="{D32E87FB-5C87-5581-95E7-412E0D35B3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5F3429-7A71-94F3-56EB-3AC56DAA095B}"/>
              </a:ext>
            </a:extLst>
          </p:cNvPr>
          <p:cNvSpPr>
            <a:spLocks noGrp="1"/>
          </p:cNvSpPr>
          <p:nvPr>
            <p:ph type="sldNum" sz="quarter" idx="12"/>
          </p:nvPr>
        </p:nvSpPr>
        <p:spPr/>
        <p:txBody>
          <a:bodyPr/>
          <a:lstStyle/>
          <a:p>
            <a:fld id="{1E9F3B15-DA2A-46A9-9929-866C97AD3B56}" type="slidenum">
              <a:rPr lang="en-US" smtClean="0"/>
              <a:t>‹#›</a:t>
            </a:fld>
            <a:endParaRPr lang="en-US"/>
          </a:p>
        </p:txBody>
      </p:sp>
    </p:spTree>
    <p:extLst>
      <p:ext uri="{BB962C8B-B14F-4D97-AF65-F5344CB8AC3E}">
        <p14:creationId xmlns:p14="http://schemas.microsoft.com/office/powerpoint/2010/main" val="4067725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8D619-93AE-A37D-163E-95A6527C66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9CB053-6E3D-F437-71B1-DF758B7D60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312607-7985-1ADC-7CA3-ADF82064F3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15F61B-1F8A-0FC0-1375-D963F90584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75735F-78B1-430E-233C-72DB6B7DD0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059257-08A7-0C59-C221-7EF350789D41}"/>
              </a:ext>
            </a:extLst>
          </p:cNvPr>
          <p:cNvSpPr>
            <a:spLocks noGrp="1"/>
          </p:cNvSpPr>
          <p:nvPr>
            <p:ph type="dt" sz="half" idx="10"/>
          </p:nvPr>
        </p:nvSpPr>
        <p:spPr/>
        <p:txBody>
          <a:bodyPr/>
          <a:lstStyle/>
          <a:p>
            <a:fld id="{2AD17431-A23F-481B-A692-CC550271104B}" type="datetimeFigureOut">
              <a:rPr lang="en-US" smtClean="0"/>
              <a:t>2/27/2026</a:t>
            </a:fld>
            <a:endParaRPr lang="en-US"/>
          </a:p>
        </p:txBody>
      </p:sp>
      <p:sp>
        <p:nvSpPr>
          <p:cNvPr id="8" name="Footer Placeholder 7">
            <a:extLst>
              <a:ext uri="{FF2B5EF4-FFF2-40B4-BE49-F238E27FC236}">
                <a16:creationId xmlns:a16="http://schemas.microsoft.com/office/drawing/2014/main" id="{5AFE46EC-45CB-D7A7-BE94-E488AF1569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FEC7E3-FC86-C649-5754-C054E5DE87BB}"/>
              </a:ext>
            </a:extLst>
          </p:cNvPr>
          <p:cNvSpPr>
            <a:spLocks noGrp="1"/>
          </p:cNvSpPr>
          <p:nvPr>
            <p:ph type="sldNum" sz="quarter" idx="12"/>
          </p:nvPr>
        </p:nvSpPr>
        <p:spPr/>
        <p:txBody>
          <a:bodyPr/>
          <a:lstStyle/>
          <a:p>
            <a:fld id="{1E9F3B15-DA2A-46A9-9929-866C97AD3B56}" type="slidenum">
              <a:rPr lang="en-US" smtClean="0"/>
              <a:t>‹#›</a:t>
            </a:fld>
            <a:endParaRPr lang="en-US"/>
          </a:p>
        </p:txBody>
      </p:sp>
    </p:spTree>
    <p:extLst>
      <p:ext uri="{BB962C8B-B14F-4D97-AF65-F5344CB8AC3E}">
        <p14:creationId xmlns:p14="http://schemas.microsoft.com/office/powerpoint/2010/main" val="2865636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C7DBB-B1F4-D9A8-E829-518252D55C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9B4E28-293C-ACCD-CEE5-B7FAFB3D16FB}"/>
              </a:ext>
            </a:extLst>
          </p:cNvPr>
          <p:cNvSpPr>
            <a:spLocks noGrp="1"/>
          </p:cNvSpPr>
          <p:nvPr>
            <p:ph type="dt" sz="half" idx="10"/>
          </p:nvPr>
        </p:nvSpPr>
        <p:spPr/>
        <p:txBody>
          <a:bodyPr/>
          <a:lstStyle/>
          <a:p>
            <a:fld id="{2AD17431-A23F-481B-A692-CC550271104B}" type="datetimeFigureOut">
              <a:rPr lang="en-US" smtClean="0"/>
              <a:t>2/27/2026</a:t>
            </a:fld>
            <a:endParaRPr lang="en-US"/>
          </a:p>
        </p:txBody>
      </p:sp>
      <p:sp>
        <p:nvSpPr>
          <p:cNvPr id="4" name="Footer Placeholder 3">
            <a:extLst>
              <a:ext uri="{FF2B5EF4-FFF2-40B4-BE49-F238E27FC236}">
                <a16:creationId xmlns:a16="http://schemas.microsoft.com/office/drawing/2014/main" id="{524D7046-2DD3-B50D-A1DD-6ECDD6598B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E7B380-995E-3404-58B8-7016FC480B08}"/>
              </a:ext>
            </a:extLst>
          </p:cNvPr>
          <p:cNvSpPr>
            <a:spLocks noGrp="1"/>
          </p:cNvSpPr>
          <p:nvPr>
            <p:ph type="sldNum" sz="quarter" idx="12"/>
          </p:nvPr>
        </p:nvSpPr>
        <p:spPr/>
        <p:txBody>
          <a:bodyPr/>
          <a:lstStyle/>
          <a:p>
            <a:fld id="{1E9F3B15-DA2A-46A9-9929-866C97AD3B56}" type="slidenum">
              <a:rPr lang="en-US" smtClean="0"/>
              <a:t>‹#›</a:t>
            </a:fld>
            <a:endParaRPr lang="en-US"/>
          </a:p>
        </p:txBody>
      </p:sp>
    </p:spTree>
    <p:extLst>
      <p:ext uri="{BB962C8B-B14F-4D97-AF65-F5344CB8AC3E}">
        <p14:creationId xmlns:p14="http://schemas.microsoft.com/office/powerpoint/2010/main" val="918269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980A3C-873C-C62A-C081-F937587DE009}"/>
              </a:ext>
            </a:extLst>
          </p:cNvPr>
          <p:cNvSpPr>
            <a:spLocks noGrp="1"/>
          </p:cNvSpPr>
          <p:nvPr>
            <p:ph type="dt" sz="half" idx="10"/>
          </p:nvPr>
        </p:nvSpPr>
        <p:spPr/>
        <p:txBody>
          <a:bodyPr/>
          <a:lstStyle/>
          <a:p>
            <a:fld id="{2AD17431-A23F-481B-A692-CC550271104B}" type="datetimeFigureOut">
              <a:rPr lang="en-US" smtClean="0"/>
              <a:t>2/27/2026</a:t>
            </a:fld>
            <a:endParaRPr lang="en-US"/>
          </a:p>
        </p:txBody>
      </p:sp>
      <p:sp>
        <p:nvSpPr>
          <p:cNvPr id="3" name="Footer Placeholder 2">
            <a:extLst>
              <a:ext uri="{FF2B5EF4-FFF2-40B4-BE49-F238E27FC236}">
                <a16:creationId xmlns:a16="http://schemas.microsoft.com/office/drawing/2014/main" id="{86E706D0-A116-0BB1-8698-2E63DB337D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2B08EC-83AE-B2D9-279F-84DC7BFA55AA}"/>
              </a:ext>
            </a:extLst>
          </p:cNvPr>
          <p:cNvSpPr>
            <a:spLocks noGrp="1"/>
          </p:cNvSpPr>
          <p:nvPr>
            <p:ph type="sldNum" sz="quarter" idx="12"/>
          </p:nvPr>
        </p:nvSpPr>
        <p:spPr/>
        <p:txBody>
          <a:bodyPr/>
          <a:lstStyle/>
          <a:p>
            <a:fld id="{1E9F3B15-DA2A-46A9-9929-866C97AD3B56}" type="slidenum">
              <a:rPr lang="en-US" smtClean="0"/>
              <a:t>‹#›</a:t>
            </a:fld>
            <a:endParaRPr lang="en-US"/>
          </a:p>
        </p:txBody>
      </p:sp>
    </p:spTree>
    <p:extLst>
      <p:ext uri="{BB962C8B-B14F-4D97-AF65-F5344CB8AC3E}">
        <p14:creationId xmlns:p14="http://schemas.microsoft.com/office/powerpoint/2010/main" val="964636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FF06D-8C75-EE6C-5BAB-F8FA63B7A8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2C13E76-53A0-132A-FFC0-FC3DDE7E3D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D6DA1C-9985-9F31-6983-0D990F7DBC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4D0819-8FE4-5B22-E36C-109B84819B5F}"/>
              </a:ext>
            </a:extLst>
          </p:cNvPr>
          <p:cNvSpPr>
            <a:spLocks noGrp="1"/>
          </p:cNvSpPr>
          <p:nvPr>
            <p:ph type="dt" sz="half" idx="10"/>
          </p:nvPr>
        </p:nvSpPr>
        <p:spPr/>
        <p:txBody>
          <a:bodyPr/>
          <a:lstStyle/>
          <a:p>
            <a:fld id="{2AD17431-A23F-481B-A692-CC550271104B}" type="datetimeFigureOut">
              <a:rPr lang="en-US" smtClean="0"/>
              <a:t>2/27/2026</a:t>
            </a:fld>
            <a:endParaRPr lang="en-US"/>
          </a:p>
        </p:txBody>
      </p:sp>
      <p:sp>
        <p:nvSpPr>
          <p:cNvPr id="6" name="Footer Placeholder 5">
            <a:extLst>
              <a:ext uri="{FF2B5EF4-FFF2-40B4-BE49-F238E27FC236}">
                <a16:creationId xmlns:a16="http://schemas.microsoft.com/office/drawing/2014/main" id="{8AEF8BCF-3C75-FF39-143D-B996F24587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19C26-ED45-16CE-CEB1-9F0C44FC3905}"/>
              </a:ext>
            </a:extLst>
          </p:cNvPr>
          <p:cNvSpPr>
            <a:spLocks noGrp="1"/>
          </p:cNvSpPr>
          <p:nvPr>
            <p:ph type="sldNum" sz="quarter" idx="12"/>
          </p:nvPr>
        </p:nvSpPr>
        <p:spPr/>
        <p:txBody>
          <a:bodyPr/>
          <a:lstStyle/>
          <a:p>
            <a:fld id="{1E9F3B15-DA2A-46A9-9929-866C97AD3B56}" type="slidenum">
              <a:rPr lang="en-US" smtClean="0"/>
              <a:t>‹#›</a:t>
            </a:fld>
            <a:endParaRPr lang="en-US"/>
          </a:p>
        </p:txBody>
      </p:sp>
    </p:spTree>
    <p:extLst>
      <p:ext uri="{BB962C8B-B14F-4D97-AF65-F5344CB8AC3E}">
        <p14:creationId xmlns:p14="http://schemas.microsoft.com/office/powerpoint/2010/main" val="1727354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A6797-3CA7-8C16-CBCF-3948DA284B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31EAD4-A6A9-EF9B-8373-3D59432637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F9CA06-1591-C33A-621B-C57A467AC0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E50C69-EFB9-FC3C-A2EF-CDE5DB9909CA}"/>
              </a:ext>
            </a:extLst>
          </p:cNvPr>
          <p:cNvSpPr>
            <a:spLocks noGrp="1"/>
          </p:cNvSpPr>
          <p:nvPr>
            <p:ph type="dt" sz="half" idx="10"/>
          </p:nvPr>
        </p:nvSpPr>
        <p:spPr/>
        <p:txBody>
          <a:bodyPr/>
          <a:lstStyle/>
          <a:p>
            <a:fld id="{2AD17431-A23F-481B-A692-CC550271104B}" type="datetimeFigureOut">
              <a:rPr lang="en-US" smtClean="0"/>
              <a:t>2/27/2026</a:t>
            </a:fld>
            <a:endParaRPr lang="en-US"/>
          </a:p>
        </p:txBody>
      </p:sp>
      <p:sp>
        <p:nvSpPr>
          <p:cNvPr id="6" name="Footer Placeholder 5">
            <a:extLst>
              <a:ext uri="{FF2B5EF4-FFF2-40B4-BE49-F238E27FC236}">
                <a16:creationId xmlns:a16="http://schemas.microsoft.com/office/drawing/2014/main" id="{CB594235-5939-E433-DE49-6912B6CD74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EA3C86-C628-620E-67D4-0A3FA83B4863}"/>
              </a:ext>
            </a:extLst>
          </p:cNvPr>
          <p:cNvSpPr>
            <a:spLocks noGrp="1"/>
          </p:cNvSpPr>
          <p:nvPr>
            <p:ph type="sldNum" sz="quarter" idx="12"/>
          </p:nvPr>
        </p:nvSpPr>
        <p:spPr/>
        <p:txBody>
          <a:bodyPr/>
          <a:lstStyle/>
          <a:p>
            <a:fld id="{1E9F3B15-DA2A-46A9-9929-866C97AD3B56}" type="slidenum">
              <a:rPr lang="en-US" smtClean="0"/>
              <a:t>‹#›</a:t>
            </a:fld>
            <a:endParaRPr lang="en-US"/>
          </a:p>
        </p:txBody>
      </p:sp>
    </p:spTree>
    <p:extLst>
      <p:ext uri="{BB962C8B-B14F-4D97-AF65-F5344CB8AC3E}">
        <p14:creationId xmlns:p14="http://schemas.microsoft.com/office/powerpoint/2010/main" val="3152151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DB315-CD5F-A1BB-0AC4-EBBFF38955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220AB8-686E-0348-13DF-D97F2CBE37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D85815-A5AB-7867-468B-79E73582BB8D}"/>
              </a:ext>
            </a:extLst>
          </p:cNvPr>
          <p:cNvSpPr>
            <a:spLocks noGrp="1"/>
          </p:cNvSpPr>
          <p:nvPr>
            <p:ph type="dt" sz="half" idx="10"/>
          </p:nvPr>
        </p:nvSpPr>
        <p:spPr/>
        <p:txBody>
          <a:bodyPr/>
          <a:lstStyle/>
          <a:p>
            <a:fld id="{2AD17431-A23F-481B-A692-CC550271104B}" type="datetimeFigureOut">
              <a:rPr lang="en-US" smtClean="0"/>
              <a:t>2/27/2026</a:t>
            </a:fld>
            <a:endParaRPr lang="en-US"/>
          </a:p>
        </p:txBody>
      </p:sp>
      <p:sp>
        <p:nvSpPr>
          <p:cNvPr id="5" name="Footer Placeholder 4">
            <a:extLst>
              <a:ext uri="{FF2B5EF4-FFF2-40B4-BE49-F238E27FC236}">
                <a16:creationId xmlns:a16="http://schemas.microsoft.com/office/drawing/2014/main" id="{8CF15D69-E22F-DBBA-389E-F54809F402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B1B82C-A16D-AC31-BBF6-E6118C8FA556}"/>
              </a:ext>
            </a:extLst>
          </p:cNvPr>
          <p:cNvSpPr>
            <a:spLocks noGrp="1"/>
          </p:cNvSpPr>
          <p:nvPr>
            <p:ph type="sldNum" sz="quarter" idx="12"/>
          </p:nvPr>
        </p:nvSpPr>
        <p:spPr/>
        <p:txBody>
          <a:bodyPr/>
          <a:lstStyle/>
          <a:p>
            <a:fld id="{1E9F3B15-DA2A-46A9-9929-866C97AD3B56}" type="slidenum">
              <a:rPr lang="en-US" smtClean="0"/>
              <a:t>‹#›</a:t>
            </a:fld>
            <a:endParaRPr lang="en-US"/>
          </a:p>
        </p:txBody>
      </p:sp>
    </p:spTree>
    <p:extLst>
      <p:ext uri="{BB962C8B-B14F-4D97-AF65-F5344CB8AC3E}">
        <p14:creationId xmlns:p14="http://schemas.microsoft.com/office/powerpoint/2010/main" val="2829920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D000F5-A036-B6FF-8B12-AA42C22055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363330-62EC-749C-C99E-25AF300A48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00610F-FB09-1D26-4CC9-15699488B65F}"/>
              </a:ext>
            </a:extLst>
          </p:cNvPr>
          <p:cNvSpPr>
            <a:spLocks noGrp="1"/>
          </p:cNvSpPr>
          <p:nvPr>
            <p:ph type="dt" sz="half" idx="10"/>
          </p:nvPr>
        </p:nvSpPr>
        <p:spPr/>
        <p:txBody>
          <a:bodyPr/>
          <a:lstStyle/>
          <a:p>
            <a:fld id="{2AD17431-A23F-481B-A692-CC550271104B}" type="datetimeFigureOut">
              <a:rPr lang="en-US" smtClean="0"/>
              <a:t>2/27/2026</a:t>
            </a:fld>
            <a:endParaRPr lang="en-US"/>
          </a:p>
        </p:txBody>
      </p:sp>
      <p:sp>
        <p:nvSpPr>
          <p:cNvPr id="5" name="Footer Placeholder 4">
            <a:extLst>
              <a:ext uri="{FF2B5EF4-FFF2-40B4-BE49-F238E27FC236}">
                <a16:creationId xmlns:a16="http://schemas.microsoft.com/office/drawing/2014/main" id="{C823AC88-F5F2-773D-004D-A1BA4EEB51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D2A26-C075-9163-CD79-2A104059F36D}"/>
              </a:ext>
            </a:extLst>
          </p:cNvPr>
          <p:cNvSpPr>
            <a:spLocks noGrp="1"/>
          </p:cNvSpPr>
          <p:nvPr>
            <p:ph type="sldNum" sz="quarter" idx="12"/>
          </p:nvPr>
        </p:nvSpPr>
        <p:spPr/>
        <p:txBody>
          <a:bodyPr/>
          <a:lstStyle/>
          <a:p>
            <a:fld id="{1E9F3B15-DA2A-46A9-9929-866C97AD3B56}" type="slidenum">
              <a:rPr lang="en-US" smtClean="0"/>
              <a:t>‹#›</a:t>
            </a:fld>
            <a:endParaRPr lang="en-US"/>
          </a:p>
        </p:txBody>
      </p:sp>
    </p:spTree>
    <p:extLst>
      <p:ext uri="{BB962C8B-B14F-4D97-AF65-F5344CB8AC3E}">
        <p14:creationId xmlns:p14="http://schemas.microsoft.com/office/powerpoint/2010/main" val="2667262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E5FFBE-BBD2-4BA9-552E-11F6EA4BEF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06C1EE-098B-B9B5-5A7A-0429C4FFA8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248E02-6952-4EB6-5C66-9E9F56C0D8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D17431-A23F-481B-A692-CC550271104B}" type="datetimeFigureOut">
              <a:rPr lang="en-US" smtClean="0"/>
              <a:t>2/27/2026</a:t>
            </a:fld>
            <a:endParaRPr lang="en-US"/>
          </a:p>
        </p:txBody>
      </p:sp>
      <p:sp>
        <p:nvSpPr>
          <p:cNvPr id="5" name="Footer Placeholder 4">
            <a:extLst>
              <a:ext uri="{FF2B5EF4-FFF2-40B4-BE49-F238E27FC236}">
                <a16:creationId xmlns:a16="http://schemas.microsoft.com/office/drawing/2014/main" id="{B7FA4DD7-FBA8-1958-4006-4A2DC35A54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BA036EF-C4E3-BE7D-8A80-3784A795F3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9F3B15-DA2A-46A9-9929-866C97AD3B56}" type="slidenum">
              <a:rPr lang="en-US" smtClean="0"/>
              <a:t>‹#›</a:t>
            </a:fld>
            <a:endParaRPr lang="en-US"/>
          </a:p>
        </p:txBody>
      </p:sp>
    </p:spTree>
    <p:extLst>
      <p:ext uri="{BB962C8B-B14F-4D97-AF65-F5344CB8AC3E}">
        <p14:creationId xmlns:p14="http://schemas.microsoft.com/office/powerpoint/2010/main" val="180132711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7BD5E-8DC4-B4BF-9AD9-A617D35BCCF8}"/>
              </a:ext>
            </a:extLst>
          </p:cNvPr>
          <p:cNvSpPr>
            <a:spLocks noGrp="1"/>
          </p:cNvSpPr>
          <p:nvPr>
            <p:ph type="ctrTitle"/>
          </p:nvPr>
        </p:nvSpPr>
        <p:spPr>
          <a:xfrm>
            <a:off x="1524000" y="1148488"/>
            <a:ext cx="9144000" cy="2387600"/>
          </a:xfrm>
        </p:spPr>
        <p:txBody>
          <a:bodyPr>
            <a:normAutofit fontScale="90000"/>
          </a:bodyPr>
          <a:lstStyle/>
          <a:p>
            <a:br>
              <a:rPr lang="en-US" b="1" dirty="0"/>
            </a:br>
            <a:r>
              <a:rPr lang="en-US" b="1" dirty="0"/>
              <a:t>\</a:t>
            </a:r>
            <a:br>
              <a:rPr lang="en-US" b="1" dirty="0"/>
            </a:br>
            <a:br>
              <a:rPr lang="en-US" b="1" dirty="0"/>
            </a:br>
            <a:br>
              <a:rPr lang="en-US" b="1" dirty="0"/>
            </a:br>
            <a:br>
              <a:rPr lang="en-US" b="1" dirty="0"/>
            </a:br>
            <a:r>
              <a:rPr lang="en-US" sz="2700" b="1" dirty="0" err="1"/>
              <a:t>Horizonu</a:t>
            </a:r>
            <a:r>
              <a:rPr lang="en-US" sz="2700" b="1" dirty="0"/>
              <a:t> Health &amp; Education LLC</a:t>
            </a:r>
            <a:br>
              <a:rPr lang="en-US" sz="2700" b="1" dirty="0"/>
            </a:br>
            <a:r>
              <a:rPr lang="en-US" sz="2700" b="1" dirty="0"/>
              <a:t>NCLEX Review &amp; Nursing Tutoring Services</a:t>
            </a:r>
            <a:br>
              <a:rPr lang="en-US" b="1" dirty="0"/>
            </a:br>
            <a:endParaRPr lang="en-US" dirty="0"/>
          </a:p>
        </p:txBody>
      </p:sp>
      <p:sp>
        <p:nvSpPr>
          <p:cNvPr id="3" name="Subtitle 2">
            <a:extLst>
              <a:ext uri="{FF2B5EF4-FFF2-40B4-BE49-F238E27FC236}">
                <a16:creationId xmlns:a16="http://schemas.microsoft.com/office/drawing/2014/main" id="{A7C61BF7-91EA-8812-E593-7BEF325BF6C2}"/>
              </a:ext>
            </a:extLst>
          </p:cNvPr>
          <p:cNvSpPr>
            <a:spLocks noGrp="1"/>
          </p:cNvSpPr>
          <p:nvPr>
            <p:ph type="subTitle" idx="1"/>
          </p:nvPr>
        </p:nvSpPr>
        <p:spPr/>
        <p:txBody>
          <a:bodyPr>
            <a:normAutofit fontScale="92500" lnSpcReduction="10000"/>
          </a:bodyPr>
          <a:lstStyle/>
          <a:p>
            <a:r>
              <a:rPr lang="en-US" b="1" dirty="0"/>
              <a:t>Veronica Adomaa, MSN, APRN, FNP-C</a:t>
            </a:r>
            <a:br>
              <a:rPr lang="en-US" dirty="0"/>
            </a:br>
            <a:r>
              <a:rPr lang="en-US" dirty="0"/>
              <a:t>Board-Certified Family Nurse Practitioner</a:t>
            </a:r>
            <a:br>
              <a:rPr lang="en-US" dirty="0"/>
            </a:br>
            <a:r>
              <a:rPr lang="en-US" dirty="0"/>
              <a:t>College-Level Nursing Professor (5+ Years)</a:t>
            </a:r>
          </a:p>
          <a:p>
            <a:r>
              <a:rPr lang="en-US" dirty="0"/>
              <a:t>15 years bedside nursing </a:t>
            </a:r>
            <a:br>
              <a:rPr lang="en-US" dirty="0"/>
            </a:br>
            <a:r>
              <a:rPr lang="en-US" dirty="0"/>
              <a:t>NCLEX Success Strategist</a:t>
            </a:r>
          </a:p>
        </p:txBody>
      </p:sp>
    </p:spTree>
    <p:extLst>
      <p:ext uri="{BB962C8B-B14F-4D97-AF65-F5344CB8AC3E}">
        <p14:creationId xmlns:p14="http://schemas.microsoft.com/office/powerpoint/2010/main" val="2299572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37870-0AE6-1D08-1B72-CACC716F7CEB}"/>
              </a:ext>
            </a:extLst>
          </p:cNvPr>
          <p:cNvSpPr>
            <a:spLocks noGrp="1"/>
          </p:cNvSpPr>
          <p:nvPr>
            <p:ph type="title"/>
          </p:nvPr>
        </p:nvSpPr>
        <p:spPr/>
        <p:txBody>
          <a:bodyPr/>
          <a:lstStyle/>
          <a:p>
            <a:r>
              <a:rPr lang="en-US" b="1" dirty="0"/>
              <a:t>Mission Statement</a:t>
            </a:r>
            <a:br>
              <a:rPr lang="en-US" b="1" dirty="0"/>
            </a:br>
            <a:endParaRPr lang="en-US" dirty="0"/>
          </a:p>
        </p:txBody>
      </p:sp>
      <p:sp>
        <p:nvSpPr>
          <p:cNvPr id="3" name="Content Placeholder 2">
            <a:extLst>
              <a:ext uri="{FF2B5EF4-FFF2-40B4-BE49-F238E27FC236}">
                <a16:creationId xmlns:a16="http://schemas.microsoft.com/office/drawing/2014/main" id="{FF2FC021-A3D6-7BFA-1403-B907E9A46616}"/>
              </a:ext>
            </a:extLst>
          </p:cNvPr>
          <p:cNvSpPr>
            <a:spLocks noGrp="1"/>
          </p:cNvSpPr>
          <p:nvPr>
            <p:ph idx="1"/>
          </p:nvPr>
        </p:nvSpPr>
        <p:spPr/>
        <p:txBody>
          <a:bodyPr/>
          <a:lstStyle/>
          <a:p>
            <a:r>
              <a:rPr lang="en-US" b="1"/>
              <a:t>HorizonuHealth</a:t>
            </a:r>
            <a:r>
              <a:rPr lang="en-US" b="1" dirty="0"/>
              <a:t> &amp; Education LLC exists to equip future nurses with the knowledge, critical thinking skills, and confidence needed to pass the NCLEX and enter the profession as safe, competent, and empowered healthcare leaders.</a:t>
            </a:r>
            <a:endParaRPr lang="en-US" dirty="0"/>
          </a:p>
          <a:p>
            <a:r>
              <a:rPr lang="en-US" dirty="0"/>
              <a:t>Through high-impact instruction, strategic test-taking frameworks, and structured digital learning, we transform overwhelmed students into exam-ready professionals prepared for real-world clinical practice.</a:t>
            </a:r>
          </a:p>
          <a:p>
            <a:endParaRPr lang="en-US" dirty="0"/>
          </a:p>
        </p:txBody>
      </p:sp>
    </p:spTree>
    <p:extLst>
      <p:ext uri="{BB962C8B-B14F-4D97-AF65-F5344CB8AC3E}">
        <p14:creationId xmlns:p14="http://schemas.microsoft.com/office/powerpoint/2010/main" val="2870270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4E037-93D3-5E37-DDE0-0048F3E5809E}"/>
              </a:ext>
            </a:extLst>
          </p:cNvPr>
          <p:cNvSpPr>
            <a:spLocks noGrp="1"/>
          </p:cNvSpPr>
          <p:nvPr>
            <p:ph type="title"/>
          </p:nvPr>
        </p:nvSpPr>
        <p:spPr/>
        <p:txBody>
          <a:bodyPr/>
          <a:lstStyle/>
          <a:p>
            <a:r>
              <a:rPr lang="en-US" b="1" dirty="0"/>
              <a:t>Vision Statement</a:t>
            </a:r>
            <a:br>
              <a:rPr lang="en-US" b="1" dirty="0"/>
            </a:br>
            <a:endParaRPr lang="en-US" dirty="0"/>
          </a:p>
        </p:txBody>
      </p:sp>
      <p:sp>
        <p:nvSpPr>
          <p:cNvPr id="3" name="Content Placeholder 2">
            <a:extLst>
              <a:ext uri="{FF2B5EF4-FFF2-40B4-BE49-F238E27FC236}">
                <a16:creationId xmlns:a16="http://schemas.microsoft.com/office/drawing/2014/main" id="{069C2185-6F82-3A1B-BAD7-34F357FD6861}"/>
              </a:ext>
            </a:extLst>
          </p:cNvPr>
          <p:cNvSpPr>
            <a:spLocks noGrp="1"/>
          </p:cNvSpPr>
          <p:nvPr>
            <p:ph idx="1"/>
          </p:nvPr>
        </p:nvSpPr>
        <p:spPr/>
        <p:txBody>
          <a:bodyPr/>
          <a:lstStyle/>
          <a:p>
            <a:r>
              <a:rPr lang="en-US" b="1" dirty="0"/>
              <a:t>Our vision is to become a premier digital NCLEX academy recognized for developing confident, clinically sound nurses who lead with excellence, integrity, and compassion.</a:t>
            </a:r>
            <a:endParaRPr lang="en-US" dirty="0"/>
          </a:p>
          <a:p>
            <a:r>
              <a:rPr lang="en-US" dirty="0"/>
              <a:t>We aim to bridge the gap between nursing education and clinical practice by building a global community of prepared, empowered, and successful nurses.</a:t>
            </a:r>
          </a:p>
          <a:p>
            <a:endParaRPr lang="en-US" dirty="0"/>
          </a:p>
        </p:txBody>
      </p:sp>
    </p:spTree>
    <p:extLst>
      <p:ext uri="{BB962C8B-B14F-4D97-AF65-F5344CB8AC3E}">
        <p14:creationId xmlns:p14="http://schemas.microsoft.com/office/powerpoint/2010/main" val="1760176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74B18-747D-6F62-F4B7-6D8321D4FFD2}"/>
              </a:ext>
            </a:extLst>
          </p:cNvPr>
          <p:cNvSpPr>
            <a:spLocks noGrp="1"/>
          </p:cNvSpPr>
          <p:nvPr>
            <p:ph type="title"/>
          </p:nvPr>
        </p:nvSpPr>
        <p:spPr/>
        <p:txBody>
          <a:bodyPr>
            <a:noAutofit/>
          </a:bodyPr>
          <a:lstStyle/>
          <a:p>
            <a:r>
              <a:rPr lang="en-US" sz="2000" b="1" dirty="0"/>
              <a:t>Website Layout Proposal</a:t>
            </a:r>
            <a:br>
              <a:rPr lang="en-US" sz="2000" b="1" dirty="0"/>
            </a:br>
            <a:r>
              <a:rPr lang="en-US" sz="2000" b="1" dirty="0" err="1"/>
              <a:t>Horizonu</a:t>
            </a:r>
            <a:r>
              <a:rPr lang="en-US" sz="2000" b="1" dirty="0"/>
              <a:t> Health &amp; Education LLC</a:t>
            </a:r>
            <a:br>
              <a:rPr lang="en-US" sz="2000" b="1" dirty="0"/>
            </a:br>
            <a:r>
              <a:rPr lang="en-US" sz="2000" b="1" dirty="0"/>
              <a:t>NCLEX Review &amp; Nursing Tutoring Services</a:t>
            </a:r>
            <a:br>
              <a:rPr lang="en-US" sz="2000" b="1" dirty="0"/>
            </a:br>
            <a:endParaRPr lang="en-US" sz="2000" dirty="0"/>
          </a:p>
        </p:txBody>
      </p:sp>
      <p:sp>
        <p:nvSpPr>
          <p:cNvPr id="3" name="Content Placeholder 2">
            <a:extLst>
              <a:ext uri="{FF2B5EF4-FFF2-40B4-BE49-F238E27FC236}">
                <a16:creationId xmlns:a16="http://schemas.microsoft.com/office/drawing/2014/main" id="{C9B753DA-57EF-F009-6760-D3280EC02A61}"/>
              </a:ext>
            </a:extLst>
          </p:cNvPr>
          <p:cNvSpPr>
            <a:spLocks noGrp="1"/>
          </p:cNvSpPr>
          <p:nvPr>
            <p:ph idx="1"/>
          </p:nvPr>
        </p:nvSpPr>
        <p:spPr/>
        <p:txBody>
          <a:bodyPr>
            <a:normAutofit fontScale="92500" lnSpcReduction="20000"/>
          </a:bodyPr>
          <a:lstStyle/>
          <a:p>
            <a:r>
              <a:rPr lang="en-US" b="1" dirty="0"/>
              <a:t>HOME PAGE</a:t>
            </a:r>
          </a:p>
          <a:p>
            <a:r>
              <a:rPr lang="en-US" b="1" dirty="0"/>
              <a:t>Hero Section (Top Banner)</a:t>
            </a:r>
          </a:p>
          <a:p>
            <a:r>
              <a:rPr lang="en-US" b="1" dirty="0"/>
              <a:t>Headline:</a:t>
            </a:r>
            <a:br>
              <a:rPr lang="en-US" dirty="0"/>
            </a:br>
            <a:r>
              <a:rPr lang="en-US" dirty="0"/>
              <a:t>Pass NCLEX with Confidence. Study Smart. Pass Fast.</a:t>
            </a:r>
          </a:p>
          <a:p>
            <a:r>
              <a:rPr lang="en-US" b="1" dirty="0" err="1"/>
              <a:t>Subheadline</a:t>
            </a:r>
            <a:r>
              <a:rPr lang="en-US" b="1" dirty="0"/>
              <a:t>:</a:t>
            </a:r>
            <a:br>
              <a:rPr lang="en-US" dirty="0"/>
            </a:br>
            <a:r>
              <a:rPr lang="en-US" dirty="0"/>
              <a:t>High-impact NCLEX review and personalized nursing tutoring led by Veronica Adomaa, MSN, APRN, FNP-C.</a:t>
            </a:r>
          </a:p>
          <a:p>
            <a:r>
              <a:rPr lang="en-US" b="1" dirty="0"/>
              <a:t>Call-to-Action Buttons:</a:t>
            </a:r>
            <a:endParaRPr lang="en-US" dirty="0"/>
          </a:p>
          <a:p>
            <a:r>
              <a:rPr lang="en-US" dirty="0"/>
              <a:t>Book a Free Consultation</a:t>
            </a:r>
          </a:p>
          <a:p>
            <a:r>
              <a:rPr lang="en-US" dirty="0"/>
              <a:t>Join NCLEX Program</a:t>
            </a:r>
          </a:p>
          <a:p>
            <a:r>
              <a:rPr lang="en-US" dirty="0"/>
              <a:t>Start Tutoring</a:t>
            </a:r>
          </a:p>
          <a:p>
            <a:endParaRPr lang="en-US" dirty="0"/>
          </a:p>
        </p:txBody>
      </p:sp>
    </p:spTree>
    <p:extLst>
      <p:ext uri="{BB962C8B-B14F-4D97-AF65-F5344CB8AC3E}">
        <p14:creationId xmlns:p14="http://schemas.microsoft.com/office/powerpoint/2010/main" val="1235101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3E675-D385-E4A6-4F7D-C373C6B18892}"/>
              </a:ext>
            </a:extLst>
          </p:cNvPr>
          <p:cNvSpPr>
            <a:spLocks noGrp="1"/>
          </p:cNvSpPr>
          <p:nvPr>
            <p:ph type="title"/>
          </p:nvPr>
        </p:nvSpPr>
        <p:spPr/>
        <p:txBody>
          <a:bodyPr/>
          <a:lstStyle/>
          <a:p>
            <a:r>
              <a:rPr lang="en-US" b="1" dirty="0"/>
              <a:t>Why Choose </a:t>
            </a:r>
            <a:r>
              <a:rPr lang="en-US" b="1" dirty="0" err="1"/>
              <a:t>Horizonu</a:t>
            </a:r>
            <a:r>
              <a:rPr lang="en-US" b="1" dirty="0"/>
              <a:t>?</a:t>
            </a:r>
            <a:br>
              <a:rPr lang="en-US" b="1" dirty="0"/>
            </a:br>
            <a:endParaRPr lang="en-US" dirty="0"/>
          </a:p>
        </p:txBody>
      </p:sp>
      <p:sp>
        <p:nvSpPr>
          <p:cNvPr id="3" name="Content Placeholder 2">
            <a:extLst>
              <a:ext uri="{FF2B5EF4-FFF2-40B4-BE49-F238E27FC236}">
                <a16:creationId xmlns:a16="http://schemas.microsoft.com/office/drawing/2014/main" id="{CF747E82-E9CF-4DA2-62A6-BAF5B5FB4DE0}"/>
              </a:ext>
            </a:extLst>
          </p:cNvPr>
          <p:cNvSpPr>
            <a:spLocks noGrp="1"/>
          </p:cNvSpPr>
          <p:nvPr>
            <p:ph idx="1"/>
          </p:nvPr>
        </p:nvSpPr>
        <p:spPr/>
        <p:txBody>
          <a:bodyPr>
            <a:normAutofit lnSpcReduction="10000"/>
          </a:bodyPr>
          <a:lstStyle/>
          <a:p>
            <a:r>
              <a:rPr lang="en-US" dirty="0"/>
              <a:t>At </a:t>
            </a:r>
            <a:r>
              <a:rPr lang="en-US" dirty="0" err="1"/>
              <a:t>Horizonu</a:t>
            </a:r>
            <a:r>
              <a:rPr lang="en-US" dirty="0"/>
              <a:t> Health &amp; Education LLC, we specialize in transforming overwhelmed nursing students into confident, test-ready professionals.</a:t>
            </a:r>
          </a:p>
          <a:p>
            <a:r>
              <a:rPr lang="en-US" dirty="0"/>
              <a:t>Led by </a:t>
            </a:r>
            <a:r>
              <a:rPr lang="en-US" b="1" dirty="0"/>
              <a:t>Veronica Adomaa, MSN, APRN, FNP-C</a:t>
            </a:r>
            <a:r>
              <a:rPr lang="en-US" dirty="0"/>
              <a:t>, a board-certified Family Nurse Practitioner and college-level nursing professor with over 5 years of teaching experience, our programs focus on:</a:t>
            </a:r>
          </a:p>
          <a:p>
            <a:r>
              <a:rPr lang="en-US" dirty="0"/>
              <a:t>Critical thinking mastery</a:t>
            </a:r>
          </a:p>
          <a:p>
            <a:r>
              <a:rPr lang="en-US" dirty="0"/>
              <a:t>NCLEX test-taking strategies</a:t>
            </a:r>
          </a:p>
          <a:p>
            <a:r>
              <a:rPr lang="en-US" dirty="0"/>
              <a:t>Content review that actually sticks</a:t>
            </a:r>
          </a:p>
          <a:p>
            <a:r>
              <a:rPr lang="en-US" dirty="0"/>
              <a:t>Clinical reasoning using the NCSBN framework</a:t>
            </a:r>
          </a:p>
          <a:p>
            <a:endParaRPr lang="en-US" dirty="0"/>
          </a:p>
        </p:txBody>
      </p:sp>
    </p:spTree>
    <p:extLst>
      <p:ext uri="{BB962C8B-B14F-4D97-AF65-F5344CB8AC3E}">
        <p14:creationId xmlns:p14="http://schemas.microsoft.com/office/powerpoint/2010/main" val="1378047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F35EE-4D8C-AF34-5F50-B26FE148EA74}"/>
              </a:ext>
            </a:extLst>
          </p:cNvPr>
          <p:cNvSpPr>
            <a:spLocks noGrp="1"/>
          </p:cNvSpPr>
          <p:nvPr>
            <p:ph type="title"/>
          </p:nvPr>
        </p:nvSpPr>
        <p:spPr/>
        <p:txBody>
          <a:bodyPr/>
          <a:lstStyle/>
          <a:p>
            <a:r>
              <a:rPr lang="en-US" b="1" dirty="0"/>
              <a:t>ABOUT PAGE</a:t>
            </a:r>
            <a:br>
              <a:rPr lang="en-US" b="1" dirty="0"/>
            </a:br>
            <a:endParaRPr lang="en-US" dirty="0"/>
          </a:p>
        </p:txBody>
      </p:sp>
      <p:sp>
        <p:nvSpPr>
          <p:cNvPr id="3" name="Content Placeholder 2">
            <a:extLst>
              <a:ext uri="{FF2B5EF4-FFF2-40B4-BE49-F238E27FC236}">
                <a16:creationId xmlns:a16="http://schemas.microsoft.com/office/drawing/2014/main" id="{712190BA-F608-EEA2-F6DD-796D9F1FFFB7}"/>
              </a:ext>
            </a:extLst>
          </p:cNvPr>
          <p:cNvSpPr>
            <a:spLocks noGrp="1"/>
          </p:cNvSpPr>
          <p:nvPr>
            <p:ph idx="1"/>
          </p:nvPr>
        </p:nvSpPr>
        <p:spPr/>
        <p:txBody>
          <a:bodyPr>
            <a:normAutofit fontScale="70000" lnSpcReduction="20000"/>
          </a:bodyPr>
          <a:lstStyle/>
          <a:p>
            <a:r>
              <a:rPr lang="en-US" b="1" dirty="0"/>
              <a:t>About the Founder</a:t>
            </a:r>
          </a:p>
          <a:p>
            <a:r>
              <a:rPr lang="en-US" b="1" dirty="0"/>
              <a:t>Veronica Adomaa, MSN, APRN, FNP-C</a:t>
            </a:r>
            <a:br>
              <a:rPr lang="en-US" dirty="0"/>
            </a:br>
            <a:r>
              <a:rPr lang="en-US" dirty="0"/>
              <a:t>Founder | NCLEX Educator | Nursing Professor</a:t>
            </a:r>
          </a:p>
          <a:p>
            <a:r>
              <a:rPr lang="en-US" dirty="0"/>
              <a:t>Veronica Adomaa is a board-certified Family Nurse Practitioner and experienced nursing professor with over five years of college-level teaching experience.</a:t>
            </a:r>
          </a:p>
          <a:p>
            <a:r>
              <a:rPr lang="en-US" dirty="0"/>
              <a:t>She has mentored and prepared hundreds of nursing students for academic success and NCLEX readiness. Her teaching philosophy focuses on:</a:t>
            </a:r>
          </a:p>
          <a:p>
            <a:r>
              <a:rPr lang="en-US" dirty="0"/>
              <a:t>Breaking down complex concepts</a:t>
            </a:r>
          </a:p>
          <a:p>
            <a:r>
              <a:rPr lang="en-US" dirty="0"/>
              <a:t>Teaching how to think like a nurse</a:t>
            </a:r>
          </a:p>
          <a:p>
            <a:r>
              <a:rPr lang="en-US" dirty="0"/>
              <a:t>Building confidence through structured frameworks</a:t>
            </a:r>
          </a:p>
          <a:p>
            <a:r>
              <a:rPr lang="en-US" dirty="0"/>
              <a:t>Prioritization using ABCs, Maslow, and safety standards</a:t>
            </a:r>
          </a:p>
          <a:p>
            <a:r>
              <a:rPr lang="en-US" dirty="0"/>
              <a:t>Her mission is simple:</a:t>
            </a:r>
            <a:br>
              <a:rPr lang="en-US" dirty="0"/>
            </a:br>
            <a:r>
              <a:rPr lang="en-US" b="1" dirty="0"/>
              <a:t>To help future nurses pass NCLEX on the first attempt and enter the profession confident and prepared.</a:t>
            </a:r>
            <a:endParaRPr lang="en-US" dirty="0"/>
          </a:p>
          <a:p>
            <a:endParaRPr lang="en-US" dirty="0"/>
          </a:p>
        </p:txBody>
      </p:sp>
    </p:spTree>
    <p:extLst>
      <p:ext uri="{BB962C8B-B14F-4D97-AF65-F5344CB8AC3E}">
        <p14:creationId xmlns:p14="http://schemas.microsoft.com/office/powerpoint/2010/main" val="1591806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CD430-184D-93AB-7001-1C5359BAE8AF}"/>
              </a:ext>
            </a:extLst>
          </p:cNvPr>
          <p:cNvSpPr>
            <a:spLocks noGrp="1"/>
          </p:cNvSpPr>
          <p:nvPr>
            <p:ph type="title"/>
          </p:nvPr>
        </p:nvSpPr>
        <p:spPr/>
        <p:txBody>
          <a:bodyPr/>
          <a:lstStyle/>
          <a:p>
            <a:r>
              <a:rPr lang="en-US" b="1" dirty="0"/>
              <a:t>SERVICES PAGE</a:t>
            </a:r>
            <a:br>
              <a:rPr lang="en-US" b="1" dirty="0"/>
            </a:br>
            <a:endParaRPr lang="en-US" dirty="0"/>
          </a:p>
        </p:txBody>
      </p:sp>
      <p:sp>
        <p:nvSpPr>
          <p:cNvPr id="3" name="Content Placeholder 2">
            <a:extLst>
              <a:ext uri="{FF2B5EF4-FFF2-40B4-BE49-F238E27FC236}">
                <a16:creationId xmlns:a16="http://schemas.microsoft.com/office/drawing/2014/main" id="{AF87D3AE-81FE-F9E7-2A1D-5383C5A46CA0}"/>
              </a:ext>
            </a:extLst>
          </p:cNvPr>
          <p:cNvSpPr>
            <a:spLocks noGrp="1"/>
          </p:cNvSpPr>
          <p:nvPr>
            <p:ph idx="1"/>
          </p:nvPr>
        </p:nvSpPr>
        <p:spPr>
          <a:xfrm>
            <a:off x="716280" y="2020389"/>
            <a:ext cx="10515600" cy="4705214"/>
          </a:xfrm>
        </p:spPr>
        <p:txBody>
          <a:bodyPr>
            <a:normAutofit fontScale="25000" lnSpcReduction="20000"/>
          </a:bodyPr>
          <a:lstStyle/>
          <a:p>
            <a:r>
              <a:rPr lang="en-US" sz="4500" b="1" dirty="0"/>
              <a:t>NCLEX Review Programs</a:t>
            </a:r>
          </a:p>
          <a:p>
            <a:r>
              <a:rPr lang="en-US" sz="4500" dirty="0"/>
              <a:t>Designer can format this in pricing cards or packages.</a:t>
            </a:r>
          </a:p>
          <a:p>
            <a:pPr marL="0" indent="0">
              <a:buNone/>
            </a:pPr>
            <a:r>
              <a:rPr lang="en-US" sz="4500" b="1" dirty="0"/>
              <a:t>Comprehensive NCLEX Bootcamp</a:t>
            </a:r>
          </a:p>
          <a:p>
            <a:r>
              <a:rPr lang="en-US" sz="4500" dirty="0"/>
              <a:t>High-yield content review</a:t>
            </a:r>
          </a:p>
          <a:p>
            <a:r>
              <a:rPr lang="en-US" sz="4500" dirty="0"/>
              <a:t>Test-taking strategies</a:t>
            </a:r>
          </a:p>
          <a:p>
            <a:r>
              <a:rPr lang="en-US" sz="4500" dirty="0"/>
              <a:t>Prioritization &amp; delegation mastery</a:t>
            </a:r>
          </a:p>
          <a:p>
            <a:r>
              <a:rPr lang="en-US" sz="4500" dirty="0"/>
              <a:t>Case study breakdowns</a:t>
            </a:r>
          </a:p>
          <a:p>
            <a:r>
              <a:rPr lang="en-US" sz="4500" dirty="0"/>
              <a:t>Practice question sessions</a:t>
            </a:r>
          </a:p>
          <a:p>
            <a:pPr marL="0" indent="0">
              <a:buNone/>
            </a:pPr>
            <a:r>
              <a:rPr lang="en-US" sz="4500" b="1" dirty="0"/>
              <a:t>One-on-One NCLEX Tutoring</a:t>
            </a:r>
          </a:p>
          <a:p>
            <a:r>
              <a:rPr lang="en-US" sz="4500" dirty="0"/>
              <a:t>Personalized study plan</a:t>
            </a:r>
          </a:p>
          <a:p>
            <a:r>
              <a:rPr lang="en-US" sz="4500" dirty="0"/>
              <a:t>Weak-area identification</a:t>
            </a:r>
          </a:p>
          <a:p>
            <a:r>
              <a:rPr lang="en-US" sz="4500" dirty="0"/>
              <a:t>Remediation strategies</a:t>
            </a:r>
          </a:p>
          <a:p>
            <a:r>
              <a:rPr lang="en-US" sz="4500" dirty="0"/>
              <a:t>Live question walkthroughs</a:t>
            </a:r>
          </a:p>
          <a:p>
            <a:pPr marL="0" indent="0">
              <a:buNone/>
            </a:pPr>
            <a:r>
              <a:rPr lang="en-US" sz="4500" b="1" dirty="0"/>
              <a:t> Group NCLEX Coaching</a:t>
            </a:r>
          </a:p>
          <a:p>
            <a:r>
              <a:rPr lang="en-US" sz="4500" dirty="0"/>
              <a:t>Weekly live sessions</a:t>
            </a:r>
          </a:p>
          <a:p>
            <a:r>
              <a:rPr lang="en-US" sz="4500" dirty="0"/>
              <a:t>Strategy-focused review</a:t>
            </a:r>
          </a:p>
          <a:p>
            <a:r>
              <a:rPr lang="en-US" sz="4500" dirty="0"/>
              <a:t>High-yield topics</a:t>
            </a:r>
          </a:p>
          <a:p>
            <a:r>
              <a:rPr lang="en-US" sz="4500" dirty="0"/>
              <a:t>Accountability support</a:t>
            </a:r>
          </a:p>
          <a:p>
            <a:endParaRPr lang="en-US" dirty="0"/>
          </a:p>
        </p:txBody>
      </p:sp>
    </p:spTree>
    <p:extLst>
      <p:ext uri="{BB962C8B-B14F-4D97-AF65-F5344CB8AC3E}">
        <p14:creationId xmlns:p14="http://schemas.microsoft.com/office/powerpoint/2010/main" val="35610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97577-CB20-BA4A-93E8-659AEDF4D5A8}"/>
              </a:ext>
            </a:extLst>
          </p:cNvPr>
          <p:cNvSpPr>
            <a:spLocks noGrp="1"/>
          </p:cNvSpPr>
          <p:nvPr>
            <p:ph type="title"/>
          </p:nvPr>
        </p:nvSpPr>
        <p:spPr/>
        <p:txBody>
          <a:bodyPr/>
          <a:lstStyle/>
          <a:p>
            <a:r>
              <a:rPr lang="en-US" b="1" dirty="0"/>
              <a:t>Nursing School Support (Pre-NCLEX)</a:t>
            </a:r>
            <a:br>
              <a:rPr lang="en-US" b="1" dirty="0"/>
            </a:br>
            <a:endParaRPr lang="en-US" dirty="0"/>
          </a:p>
        </p:txBody>
      </p:sp>
      <p:sp>
        <p:nvSpPr>
          <p:cNvPr id="3" name="Content Placeholder 2">
            <a:extLst>
              <a:ext uri="{FF2B5EF4-FFF2-40B4-BE49-F238E27FC236}">
                <a16:creationId xmlns:a16="http://schemas.microsoft.com/office/drawing/2014/main" id="{29F7ED8B-059A-34A1-8CC0-1CB978213816}"/>
              </a:ext>
            </a:extLst>
          </p:cNvPr>
          <p:cNvSpPr>
            <a:spLocks noGrp="1"/>
          </p:cNvSpPr>
          <p:nvPr>
            <p:ph idx="1"/>
          </p:nvPr>
        </p:nvSpPr>
        <p:spPr/>
        <p:txBody>
          <a:bodyPr/>
          <a:lstStyle/>
          <a:p>
            <a:r>
              <a:rPr lang="en-US" dirty="0"/>
              <a:t>Med-Surg tutoring</a:t>
            </a:r>
          </a:p>
          <a:p>
            <a:r>
              <a:rPr lang="en-US" dirty="0"/>
              <a:t>Pharmacology breakdown</a:t>
            </a:r>
          </a:p>
          <a:p>
            <a:r>
              <a:rPr lang="en-US" dirty="0"/>
              <a:t>Dosage calculation mastery</a:t>
            </a:r>
          </a:p>
          <a:p>
            <a:r>
              <a:rPr lang="en-US" dirty="0"/>
              <a:t>HESI/ATI preparation</a:t>
            </a:r>
          </a:p>
          <a:p>
            <a:r>
              <a:rPr lang="en-US" dirty="0"/>
              <a:t>Clinical readiness coaching</a:t>
            </a:r>
          </a:p>
          <a:p>
            <a:endParaRPr lang="en-US" dirty="0"/>
          </a:p>
        </p:txBody>
      </p:sp>
    </p:spTree>
    <p:extLst>
      <p:ext uri="{BB962C8B-B14F-4D97-AF65-F5344CB8AC3E}">
        <p14:creationId xmlns:p14="http://schemas.microsoft.com/office/powerpoint/2010/main" val="3840453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17D12-92B2-4B3A-C0D6-930B68D323C6}"/>
              </a:ext>
            </a:extLst>
          </p:cNvPr>
          <p:cNvSpPr>
            <a:spLocks noGrp="1"/>
          </p:cNvSpPr>
          <p:nvPr>
            <p:ph type="title"/>
          </p:nvPr>
        </p:nvSpPr>
        <p:spPr/>
        <p:txBody>
          <a:bodyPr/>
          <a:lstStyle/>
          <a:p>
            <a:r>
              <a:rPr lang="en-US" b="1" dirty="0"/>
              <a:t> HOW IT WORKS PAGE</a:t>
            </a:r>
            <a:br>
              <a:rPr lang="en-US" b="1" dirty="0"/>
            </a:br>
            <a:endParaRPr lang="en-US" dirty="0"/>
          </a:p>
        </p:txBody>
      </p:sp>
      <p:sp>
        <p:nvSpPr>
          <p:cNvPr id="3" name="Content Placeholder 2">
            <a:extLst>
              <a:ext uri="{FF2B5EF4-FFF2-40B4-BE49-F238E27FC236}">
                <a16:creationId xmlns:a16="http://schemas.microsoft.com/office/drawing/2014/main" id="{F83EF06A-71CD-AA6E-BB7F-3418E8722A63}"/>
              </a:ext>
            </a:extLst>
          </p:cNvPr>
          <p:cNvSpPr>
            <a:spLocks noGrp="1"/>
          </p:cNvSpPr>
          <p:nvPr>
            <p:ph idx="1"/>
          </p:nvPr>
        </p:nvSpPr>
        <p:spPr/>
        <p:txBody>
          <a:bodyPr>
            <a:normAutofit lnSpcReduction="10000"/>
          </a:bodyPr>
          <a:lstStyle/>
          <a:p>
            <a:r>
              <a:rPr lang="en-US" b="1" dirty="0"/>
              <a:t>Step 1: Book Consultation</a:t>
            </a:r>
          </a:p>
          <a:p>
            <a:r>
              <a:rPr lang="en-US" dirty="0"/>
              <a:t>We assess your strengths, weaknesses, and exam timeline.</a:t>
            </a:r>
          </a:p>
          <a:p>
            <a:r>
              <a:rPr lang="en-US" b="1" dirty="0"/>
              <a:t>Step 2: Customized Study Plan</a:t>
            </a:r>
          </a:p>
          <a:p>
            <a:r>
              <a:rPr lang="en-US" dirty="0"/>
              <a:t>You receive a structured roadmap tailored to your learning style.</a:t>
            </a:r>
          </a:p>
          <a:p>
            <a:r>
              <a:rPr lang="en-US" b="1" dirty="0"/>
              <a:t>Step 3: Strategy &amp; Mastery</a:t>
            </a:r>
          </a:p>
          <a:p>
            <a:r>
              <a:rPr lang="en-US" dirty="0"/>
              <a:t>We focus on critical thinking, question dissection, and safety prioritization.</a:t>
            </a:r>
          </a:p>
          <a:p>
            <a:r>
              <a:rPr lang="en-US" b="1" dirty="0"/>
              <a:t>Step 4: Test-Ready Confidence</a:t>
            </a:r>
          </a:p>
          <a:p>
            <a:r>
              <a:rPr lang="en-US" dirty="0"/>
              <a:t>You walk into the exam calm, prepared, and confident.</a:t>
            </a:r>
          </a:p>
          <a:p>
            <a:endParaRPr lang="en-US" dirty="0"/>
          </a:p>
        </p:txBody>
      </p:sp>
    </p:spTree>
    <p:extLst>
      <p:ext uri="{BB962C8B-B14F-4D97-AF65-F5344CB8AC3E}">
        <p14:creationId xmlns:p14="http://schemas.microsoft.com/office/powerpoint/2010/main" val="210042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CECA3-B9F8-14DE-22FA-C73D5A441EB0}"/>
              </a:ext>
            </a:extLst>
          </p:cNvPr>
          <p:cNvSpPr>
            <a:spLocks noGrp="1"/>
          </p:cNvSpPr>
          <p:nvPr>
            <p:ph type="title"/>
          </p:nvPr>
        </p:nvSpPr>
        <p:spPr/>
        <p:txBody>
          <a:bodyPr/>
          <a:lstStyle/>
          <a:p>
            <a:r>
              <a:rPr lang="en-US" b="1" dirty="0"/>
              <a:t> RESULTS / TESTIMONIALS PAGE</a:t>
            </a:r>
            <a:br>
              <a:rPr lang="en-US" b="1" dirty="0"/>
            </a:br>
            <a:endParaRPr lang="en-US" dirty="0"/>
          </a:p>
        </p:txBody>
      </p:sp>
      <p:sp>
        <p:nvSpPr>
          <p:cNvPr id="3" name="Content Placeholder 2">
            <a:extLst>
              <a:ext uri="{FF2B5EF4-FFF2-40B4-BE49-F238E27FC236}">
                <a16:creationId xmlns:a16="http://schemas.microsoft.com/office/drawing/2014/main" id="{DF02921B-AA96-C4D3-6296-FE36C02D70BC}"/>
              </a:ext>
            </a:extLst>
          </p:cNvPr>
          <p:cNvSpPr>
            <a:spLocks noGrp="1"/>
          </p:cNvSpPr>
          <p:nvPr>
            <p:ph idx="1"/>
          </p:nvPr>
        </p:nvSpPr>
        <p:spPr/>
        <p:txBody>
          <a:bodyPr/>
          <a:lstStyle/>
          <a:p>
            <a:r>
              <a:rPr lang="en-US" b="1" dirty="0"/>
              <a:t>Success Stories</a:t>
            </a:r>
            <a:endParaRPr lang="en-US" dirty="0"/>
          </a:p>
          <a:p>
            <a:r>
              <a:rPr lang="en-US" dirty="0"/>
              <a:t>“I passed NCLEX in 85 questions!”</a:t>
            </a:r>
          </a:p>
          <a:p>
            <a:r>
              <a:rPr lang="en-US" dirty="0"/>
              <a:t>“Professor Adomaa helped me finally understand prioritization.”</a:t>
            </a:r>
          </a:p>
          <a:p>
            <a:r>
              <a:rPr lang="en-US" dirty="0"/>
              <a:t>“Her method changed how I approached questions.”</a:t>
            </a:r>
          </a:p>
          <a:p>
            <a:r>
              <a:rPr lang="en-US" dirty="0"/>
              <a:t>(Designer can add review slider section)</a:t>
            </a:r>
          </a:p>
          <a:p>
            <a:endParaRPr lang="en-US" dirty="0"/>
          </a:p>
        </p:txBody>
      </p:sp>
    </p:spTree>
    <p:extLst>
      <p:ext uri="{BB962C8B-B14F-4D97-AF65-F5344CB8AC3E}">
        <p14:creationId xmlns:p14="http://schemas.microsoft.com/office/powerpoint/2010/main" val="463574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C6BA1-A46E-D422-C8B3-D22C43A816C3}"/>
              </a:ext>
            </a:extLst>
          </p:cNvPr>
          <p:cNvSpPr>
            <a:spLocks noGrp="1"/>
          </p:cNvSpPr>
          <p:nvPr>
            <p:ph type="title"/>
          </p:nvPr>
        </p:nvSpPr>
        <p:spPr/>
        <p:txBody>
          <a:bodyPr/>
          <a:lstStyle/>
          <a:p>
            <a:r>
              <a:rPr lang="en-US" b="1" dirty="0"/>
              <a:t>FAQ PAGE</a:t>
            </a:r>
            <a:br>
              <a:rPr lang="en-US" b="1" dirty="0"/>
            </a:br>
            <a:endParaRPr lang="en-US" dirty="0"/>
          </a:p>
        </p:txBody>
      </p:sp>
      <p:sp>
        <p:nvSpPr>
          <p:cNvPr id="3" name="Content Placeholder 2">
            <a:extLst>
              <a:ext uri="{FF2B5EF4-FFF2-40B4-BE49-F238E27FC236}">
                <a16:creationId xmlns:a16="http://schemas.microsoft.com/office/drawing/2014/main" id="{57DEA794-4E2E-8CC4-C752-B739BA320A18}"/>
              </a:ext>
            </a:extLst>
          </p:cNvPr>
          <p:cNvSpPr>
            <a:spLocks noGrp="1"/>
          </p:cNvSpPr>
          <p:nvPr>
            <p:ph idx="1"/>
          </p:nvPr>
        </p:nvSpPr>
        <p:spPr/>
        <p:txBody>
          <a:bodyPr/>
          <a:lstStyle/>
          <a:p>
            <a:r>
              <a:rPr lang="en-US" dirty="0"/>
              <a:t>Examples:</a:t>
            </a:r>
          </a:p>
          <a:p>
            <a:r>
              <a:rPr lang="en-US" dirty="0"/>
              <a:t>How long should I study before NCLEX?</a:t>
            </a:r>
          </a:p>
          <a:p>
            <a:r>
              <a:rPr lang="en-US" dirty="0"/>
              <a:t>Do you offer payment plans?</a:t>
            </a:r>
          </a:p>
          <a:p>
            <a:r>
              <a:rPr lang="en-US" dirty="0"/>
              <a:t>Is this for RN and PN students?</a:t>
            </a:r>
          </a:p>
          <a:p>
            <a:r>
              <a:rPr lang="en-US" dirty="0"/>
              <a:t>Do you provide study materials?</a:t>
            </a:r>
          </a:p>
          <a:p>
            <a:r>
              <a:rPr lang="en-US" dirty="0"/>
              <a:t>Are sessions virtual or in-person?</a:t>
            </a:r>
          </a:p>
          <a:p>
            <a:endParaRPr lang="en-US" dirty="0"/>
          </a:p>
        </p:txBody>
      </p:sp>
    </p:spTree>
    <p:extLst>
      <p:ext uri="{BB962C8B-B14F-4D97-AF65-F5344CB8AC3E}">
        <p14:creationId xmlns:p14="http://schemas.microsoft.com/office/powerpoint/2010/main" val="2850585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B5889-65CB-6739-484F-A90EAD8BE69B}"/>
              </a:ext>
            </a:extLst>
          </p:cNvPr>
          <p:cNvSpPr>
            <a:spLocks noGrp="1"/>
          </p:cNvSpPr>
          <p:nvPr>
            <p:ph type="title"/>
          </p:nvPr>
        </p:nvSpPr>
        <p:spPr/>
        <p:txBody>
          <a:bodyPr/>
          <a:lstStyle/>
          <a:p>
            <a:r>
              <a:rPr lang="en-US" b="1" dirty="0"/>
              <a:t>CONTACT PAGE</a:t>
            </a:r>
            <a:br>
              <a:rPr lang="en-US" b="1" dirty="0"/>
            </a:br>
            <a:endParaRPr lang="en-US" dirty="0"/>
          </a:p>
        </p:txBody>
      </p:sp>
      <p:sp>
        <p:nvSpPr>
          <p:cNvPr id="3" name="Content Placeholder 2">
            <a:extLst>
              <a:ext uri="{FF2B5EF4-FFF2-40B4-BE49-F238E27FC236}">
                <a16:creationId xmlns:a16="http://schemas.microsoft.com/office/drawing/2014/main" id="{B3AE114C-AD32-007B-A9DE-9C7EEBF1D12D}"/>
              </a:ext>
            </a:extLst>
          </p:cNvPr>
          <p:cNvSpPr>
            <a:spLocks noGrp="1"/>
          </p:cNvSpPr>
          <p:nvPr>
            <p:ph idx="1"/>
          </p:nvPr>
        </p:nvSpPr>
        <p:spPr/>
        <p:txBody>
          <a:bodyPr>
            <a:normAutofit fontScale="92500" lnSpcReduction="10000"/>
          </a:bodyPr>
          <a:lstStyle/>
          <a:p>
            <a:r>
              <a:rPr lang="en-US" b="1" dirty="0"/>
              <a:t>Start Your NCLEX Success Journey Today</a:t>
            </a:r>
            <a:endParaRPr lang="en-US" dirty="0"/>
          </a:p>
          <a:p>
            <a:r>
              <a:rPr lang="en-US" dirty="0" err="1"/>
              <a:t>Horizonu</a:t>
            </a:r>
            <a:r>
              <a:rPr lang="en-US" dirty="0"/>
              <a:t> Health &amp; Education LLC</a:t>
            </a:r>
            <a:br>
              <a:rPr lang="en-US" dirty="0"/>
            </a:br>
            <a:r>
              <a:rPr lang="en-US" dirty="0"/>
              <a:t>Veronica Adomaa, MSN, APRN, FNP-C</a:t>
            </a:r>
          </a:p>
          <a:p>
            <a:r>
              <a:rPr lang="en-US" dirty="0"/>
              <a:t>Contact Form:</a:t>
            </a:r>
          </a:p>
          <a:p>
            <a:r>
              <a:rPr lang="en-US" dirty="0"/>
              <a:t>Name</a:t>
            </a:r>
          </a:p>
          <a:p>
            <a:r>
              <a:rPr lang="en-US" dirty="0"/>
              <a:t>Email</a:t>
            </a:r>
          </a:p>
          <a:p>
            <a:r>
              <a:rPr lang="en-US" dirty="0"/>
              <a:t>Nursing Program</a:t>
            </a:r>
          </a:p>
          <a:p>
            <a:r>
              <a:rPr lang="en-US" dirty="0"/>
              <a:t>NCLEX Date</a:t>
            </a:r>
          </a:p>
          <a:p>
            <a:r>
              <a:rPr lang="en-US" dirty="0"/>
              <a:t>Message</a:t>
            </a:r>
          </a:p>
          <a:p>
            <a:r>
              <a:rPr lang="en-US" dirty="0"/>
              <a:t>CTA Button: Schedule Consultation</a:t>
            </a:r>
          </a:p>
          <a:p>
            <a:endParaRPr lang="en-US" dirty="0"/>
          </a:p>
        </p:txBody>
      </p:sp>
    </p:spTree>
    <p:extLst>
      <p:ext uri="{BB962C8B-B14F-4D97-AF65-F5344CB8AC3E}">
        <p14:creationId xmlns:p14="http://schemas.microsoft.com/office/powerpoint/2010/main" val="443107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FF343-EB44-C4FC-55BC-BF45CAB2397C}"/>
              </a:ext>
            </a:extLst>
          </p:cNvPr>
          <p:cNvSpPr>
            <a:spLocks noGrp="1"/>
          </p:cNvSpPr>
          <p:nvPr>
            <p:ph type="title"/>
          </p:nvPr>
        </p:nvSpPr>
        <p:spPr/>
        <p:txBody>
          <a:bodyPr/>
          <a:lstStyle/>
          <a:p>
            <a:r>
              <a:rPr lang="en-US" b="1" dirty="0"/>
              <a:t>Design Direction for Web Designer</a:t>
            </a:r>
            <a:br>
              <a:rPr lang="en-US" b="1" dirty="0"/>
            </a:br>
            <a:endParaRPr lang="en-US" dirty="0"/>
          </a:p>
        </p:txBody>
      </p:sp>
      <p:sp>
        <p:nvSpPr>
          <p:cNvPr id="3" name="Content Placeholder 2">
            <a:extLst>
              <a:ext uri="{FF2B5EF4-FFF2-40B4-BE49-F238E27FC236}">
                <a16:creationId xmlns:a16="http://schemas.microsoft.com/office/drawing/2014/main" id="{7CAE8B3D-F15B-9796-AE24-83D5218C19DB}"/>
              </a:ext>
            </a:extLst>
          </p:cNvPr>
          <p:cNvSpPr>
            <a:spLocks noGrp="1"/>
          </p:cNvSpPr>
          <p:nvPr>
            <p:ph idx="1"/>
          </p:nvPr>
        </p:nvSpPr>
        <p:spPr/>
        <p:txBody>
          <a:bodyPr>
            <a:normAutofit fontScale="47500" lnSpcReduction="20000"/>
          </a:bodyPr>
          <a:lstStyle/>
          <a:p>
            <a:r>
              <a:rPr lang="en-US" dirty="0"/>
              <a:t>Tone:</a:t>
            </a:r>
          </a:p>
          <a:p>
            <a:r>
              <a:rPr lang="en-US" dirty="0"/>
              <a:t>Professional but motivating</a:t>
            </a:r>
          </a:p>
          <a:p>
            <a:r>
              <a:rPr lang="en-US" dirty="0"/>
              <a:t>Clean, bold, modern</a:t>
            </a:r>
          </a:p>
          <a:p>
            <a:r>
              <a:rPr lang="en-US" dirty="0"/>
              <a:t>Academic + empowering</a:t>
            </a:r>
          </a:p>
          <a:p>
            <a:r>
              <a:rPr lang="en-US" dirty="0"/>
              <a:t>Colors:</a:t>
            </a:r>
          </a:p>
          <a:p>
            <a:r>
              <a:rPr lang="en-US" dirty="0"/>
              <a:t>Navy (trust &amp; intelligence)</a:t>
            </a:r>
          </a:p>
          <a:p>
            <a:r>
              <a:rPr lang="en-US" dirty="0"/>
              <a:t>Emerald or Teal (growth &amp; success)</a:t>
            </a:r>
          </a:p>
          <a:p>
            <a:r>
              <a:rPr lang="en-US" dirty="0"/>
              <a:t>White (clean academic feel)</a:t>
            </a:r>
          </a:p>
          <a:p>
            <a:r>
              <a:rPr lang="en-US" dirty="0"/>
              <a:t>Visuals:</a:t>
            </a:r>
          </a:p>
          <a:p>
            <a:r>
              <a:rPr lang="en-US" dirty="0"/>
              <a:t>Professional headshot of Veronica</a:t>
            </a:r>
          </a:p>
          <a:p>
            <a:r>
              <a:rPr lang="en-US" dirty="0"/>
              <a:t>Images of nursing students studying</a:t>
            </a:r>
          </a:p>
          <a:p>
            <a:r>
              <a:rPr lang="en-US" dirty="0"/>
              <a:t>Laptop + notes + stethoscope aesthetic</a:t>
            </a:r>
          </a:p>
          <a:p>
            <a:r>
              <a:rPr lang="en-US" dirty="0"/>
              <a:t>Confidence-focused imagery</a:t>
            </a:r>
          </a:p>
          <a:p>
            <a:r>
              <a:rPr lang="en-US" dirty="0"/>
              <a:t>Fonts:</a:t>
            </a:r>
          </a:p>
          <a:p>
            <a:r>
              <a:rPr lang="en-US" dirty="0"/>
              <a:t>Strong headline font</a:t>
            </a:r>
          </a:p>
          <a:p>
            <a:r>
              <a:rPr lang="en-US" dirty="0"/>
              <a:t>Clean readable body text</a:t>
            </a:r>
          </a:p>
          <a:p>
            <a:endParaRPr lang="en-US" dirty="0"/>
          </a:p>
        </p:txBody>
      </p:sp>
    </p:spTree>
    <p:extLst>
      <p:ext uri="{BB962C8B-B14F-4D97-AF65-F5344CB8AC3E}">
        <p14:creationId xmlns:p14="http://schemas.microsoft.com/office/powerpoint/2010/main" val="4187438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94169-44EA-913A-CC20-5A8DD6BD4156}"/>
              </a:ext>
            </a:extLst>
          </p:cNvPr>
          <p:cNvSpPr>
            <a:spLocks noGrp="1"/>
          </p:cNvSpPr>
          <p:nvPr>
            <p:ph type="title"/>
          </p:nvPr>
        </p:nvSpPr>
        <p:spPr/>
        <p:txBody>
          <a:bodyPr>
            <a:normAutofit fontScale="90000"/>
          </a:bodyPr>
          <a:lstStyle/>
          <a:p>
            <a:r>
              <a:rPr lang="en-US" sz="2700" b="1" dirty="0"/>
              <a:t>WEBSITE STRUCTURE</a:t>
            </a:r>
            <a:br>
              <a:rPr lang="en-US" sz="2700" b="1" dirty="0"/>
            </a:br>
            <a:r>
              <a:rPr lang="en-US" sz="2700" b="1" dirty="0" err="1"/>
              <a:t>Horizonu</a:t>
            </a:r>
            <a:r>
              <a:rPr lang="en-US" sz="2700" b="1" dirty="0"/>
              <a:t> Health &amp; Education LLC</a:t>
            </a:r>
            <a:br>
              <a:rPr lang="en-US" sz="2700" b="1" dirty="0"/>
            </a:br>
            <a:r>
              <a:rPr lang="en-US" sz="2700" b="1" dirty="0"/>
              <a:t>NCLEX Review &amp; Digital Learning Platform</a:t>
            </a:r>
            <a:br>
              <a:rPr lang="en-US" b="1" dirty="0"/>
            </a:br>
            <a:endParaRPr lang="en-US" dirty="0"/>
          </a:p>
        </p:txBody>
      </p:sp>
      <p:sp>
        <p:nvSpPr>
          <p:cNvPr id="3" name="Content Placeholder 2">
            <a:extLst>
              <a:ext uri="{FF2B5EF4-FFF2-40B4-BE49-F238E27FC236}">
                <a16:creationId xmlns:a16="http://schemas.microsoft.com/office/drawing/2014/main" id="{5C0086E0-DC39-8F5E-B6BC-98B3B329590A}"/>
              </a:ext>
            </a:extLst>
          </p:cNvPr>
          <p:cNvSpPr>
            <a:spLocks noGrp="1"/>
          </p:cNvSpPr>
          <p:nvPr>
            <p:ph idx="1"/>
          </p:nvPr>
        </p:nvSpPr>
        <p:spPr/>
        <p:txBody>
          <a:bodyPr/>
          <a:lstStyle/>
          <a:p>
            <a:r>
              <a:rPr lang="en-US" b="1" dirty="0"/>
              <a:t>MEMBER PORTAL (LOGIN-BASED)</a:t>
            </a:r>
          </a:p>
          <a:p>
            <a:r>
              <a:rPr lang="en-US" dirty="0"/>
              <a:t>This is VERY important. I need a password-protected student dashboard where enrolled students can log in and access recordings, materials, and practice questions.</a:t>
            </a:r>
          </a:p>
          <a:p>
            <a:endParaRPr lang="en-US" dirty="0"/>
          </a:p>
        </p:txBody>
      </p:sp>
    </p:spTree>
    <p:extLst>
      <p:ext uri="{BB962C8B-B14F-4D97-AF65-F5344CB8AC3E}">
        <p14:creationId xmlns:p14="http://schemas.microsoft.com/office/powerpoint/2010/main" val="2957727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88B9-D066-1E11-3508-DC4E2C070EA0}"/>
              </a:ext>
            </a:extLst>
          </p:cNvPr>
          <p:cNvSpPr>
            <a:spLocks noGrp="1"/>
          </p:cNvSpPr>
          <p:nvPr>
            <p:ph type="title"/>
          </p:nvPr>
        </p:nvSpPr>
        <p:spPr/>
        <p:txBody>
          <a:bodyPr/>
          <a:lstStyle/>
          <a:p>
            <a:r>
              <a:rPr lang="en-US" b="1" dirty="0"/>
              <a:t>STUDENT DASHBOARD LAYOUT</a:t>
            </a:r>
            <a:br>
              <a:rPr lang="en-US" b="1" dirty="0"/>
            </a:br>
            <a:endParaRPr lang="en-US" dirty="0"/>
          </a:p>
        </p:txBody>
      </p:sp>
      <p:sp>
        <p:nvSpPr>
          <p:cNvPr id="3" name="Content Placeholder 2">
            <a:extLst>
              <a:ext uri="{FF2B5EF4-FFF2-40B4-BE49-F238E27FC236}">
                <a16:creationId xmlns:a16="http://schemas.microsoft.com/office/drawing/2014/main" id="{C9E69BD2-83F5-F895-E785-4F4B2E03947F}"/>
              </a:ext>
            </a:extLst>
          </p:cNvPr>
          <p:cNvSpPr>
            <a:spLocks noGrp="1"/>
          </p:cNvSpPr>
          <p:nvPr>
            <p:ph idx="1"/>
          </p:nvPr>
        </p:nvSpPr>
        <p:spPr/>
        <p:txBody>
          <a:bodyPr/>
          <a:lstStyle/>
          <a:p>
            <a:r>
              <a:rPr lang="en-US" dirty="0"/>
              <a:t>After login, students should see:</a:t>
            </a:r>
          </a:p>
          <a:p>
            <a:pPr marL="0" indent="0">
              <a:buNone/>
            </a:pPr>
            <a:r>
              <a:rPr lang="en-US" b="1" dirty="0"/>
              <a:t> Dashboard Overview</a:t>
            </a:r>
          </a:p>
          <a:p>
            <a:r>
              <a:rPr lang="en-US" dirty="0"/>
              <a:t>Welcome message from Veronica Adomaa, MSN, APRN, FNP-C</a:t>
            </a:r>
          </a:p>
          <a:p>
            <a:r>
              <a:rPr lang="en-US" dirty="0"/>
              <a:t>Progress tracker (optional but powerful)</a:t>
            </a:r>
          </a:p>
          <a:p>
            <a:r>
              <a:rPr lang="en-US" dirty="0"/>
              <a:t>Recently added recordings</a:t>
            </a:r>
          </a:p>
          <a:p>
            <a:r>
              <a:rPr lang="en-US" dirty="0"/>
              <a:t>Upcoming live sessions</a:t>
            </a:r>
          </a:p>
          <a:p>
            <a:r>
              <a:rPr lang="en-US" dirty="0"/>
              <a:t>Quick link to Question Bank</a:t>
            </a:r>
          </a:p>
          <a:p>
            <a:endParaRPr lang="en-US" dirty="0"/>
          </a:p>
        </p:txBody>
      </p:sp>
    </p:spTree>
    <p:extLst>
      <p:ext uri="{BB962C8B-B14F-4D97-AF65-F5344CB8AC3E}">
        <p14:creationId xmlns:p14="http://schemas.microsoft.com/office/powerpoint/2010/main" val="3377877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01167-A561-1A76-CC90-50A2B4773016}"/>
              </a:ext>
            </a:extLst>
          </p:cNvPr>
          <p:cNvSpPr>
            <a:spLocks noGrp="1"/>
          </p:cNvSpPr>
          <p:nvPr>
            <p:ph type="title"/>
          </p:nvPr>
        </p:nvSpPr>
        <p:spPr/>
        <p:txBody>
          <a:bodyPr/>
          <a:lstStyle/>
          <a:p>
            <a:r>
              <a:rPr lang="en-US" b="1" dirty="0"/>
              <a:t>COURSE LIBRARY SECTION</a:t>
            </a:r>
            <a:br>
              <a:rPr lang="en-US" b="1" dirty="0"/>
            </a:br>
            <a:endParaRPr lang="en-US" dirty="0"/>
          </a:p>
        </p:txBody>
      </p:sp>
      <p:sp>
        <p:nvSpPr>
          <p:cNvPr id="3" name="Content Placeholder 2">
            <a:extLst>
              <a:ext uri="{FF2B5EF4-FFF2-40B4-BE49-F238E27FC236}">
                <a16:creationId xmlns:a16="http://schemas.microsoft.com/office/drawing/2014/main" id="{EEBBD49A-C942-1171-F167-3F991C2CFCF3}"/>
              </a:ext>
            </a:extLst>
          </p:cNvPr>
          <p:cNvSpPr>
            <a:spLocks noGrp="1"/>
          </p:cNvSpPr>
          <p:nvPr>
            <p:ph idx="1"/>
          </p:nvPr>
        </p:nvSpPr>
        <p:spPr/>
        <p:txBody>
          <a:bodyPr/>
          <a:lstStyle/>
          <a:p>
            <a:r>
              <a:rPr lang="en-US" dirty="0"/>
              <a:t>Each section should allow:</a:t>
            </a:r>
          </a:p>
          <a:p>
            <a:r>
              <a:rPr lang="en-US" dirty="0"/>
              <a:t>Video recordings</a:t>
            </a:r>
          </a:p>
          <a:p>
            <a:r>
              <a:rPr lang="en-US" dirty="0"/>
              <a:t>Viewable but not downloadable PDFs</a:t>
            </a:r>
          </a:p>
          <a:p>
            <a:r>
              <a:rPr lang="en-US" dirty="0"/>
              <a:t>Study guides</a:t>
            </a:r>
          </a:p>
          <a:p>
            <a:r>
              <a:rPr lang="en-US" dirty="0"/>
              <a:t>Notes</a:t>
            </a:r>
          </a:p>
          <a:p>
            <a:r>
              <a:rPr lang="en-US" dirty="0"/>
              <a:t>Replay access</a:t>
            </a:r>
          </a:p>
          <a:p>
            <a:endParaRPr lang="en-US" dirty="0"/>
          </a:p>
        </p:txBody>
      </p:sp>
    </p:spTree>
    <p:extLst>
      <p:ext uri="{BB962C8B-B14F-4D97-AF65-F5344CB8AC3E}">
        <p14:creationId xmlns:p14="http://schemas.microsoft.com/office/powerpoint/2010/main" val="3765954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F424D-1BCC-E158-9FBA-8CFB141987EE}"/>
              </a:ext>
            </a:extLst>
          </p:cNvPr>
          <p:cNvSpPr>
            <a:spLocks noGrp="1"/>
          </p:cNvSpPr>
          <p:nvPr>
            <p:ph type="title"/>
          </p:nvPr>
        </p:nvSpPr>
        <p:spPr/>
        <p:txBody>
          <a:bodyPr/>
          <a:lstStyle/>
          <a:p>
            <a:r>
              <a:rPr lang="en-US" b="1" dirty="0"/>
              <a:t>Med-Surg Mastery Section</a:t>
            </a:r>
            <a:br>
              <a:rPr lang="en-US" b="1" dirty="0"/>
            </a:br>
            <a:endParaRPr lang="en-US" dirty="0"/>
          </a:p>
        </p:txBody>
      </p:sp>
      <p:sp>
        <p:nvSpPr>
          <p:cNvPr id="3" name="Content Placeholder 2">
            <a:extLst>
              <a:ext uri="{FF2B5EF4-FFF2-40B4-BE49-F238E27FC236}">
                <a16:creationId xmlns:a16="http://schemas.microsoft.com/office/drawing/2014/main" id="{3E7BB5E6-7B40-332A-163F-9D3D4BFAF219}"/>
              </a:ext>
            </a:extLst>
          </p:cNvPr>
          <p:cNvSpPr>
            <a:spLocks noGrp="1"/>
          </p:cNvSpPr>
          <p:nvPr>
            <p:ph idx="1"/>
          </p:nvPr>
        </p:nvSpPr>
        <p:spPr/>
        <p:txBody>
          <a:bodyPr>
            <a:normAutofit fontScale="55000" lnSpcReduction="20000"/>
          </a:bodyPr>
          <a:lstStyle/>
          <a:p>
            <a:r>
              <a:rPr lang="en-US" dirty="0"/>
              <a:t>Content:</a:t>
            </a:r>
          </a:p>
          <a:p>
            <a:r>
              <a:rPr lang="en-US" dirty="0"/>
              <a:t>Cardiovascular</a:t>
            </a:r>
          </a:p>
          <a:p>
            <a:r>
              <a:rPr lang="en-US" dirty="0"/>
              <a:t>Respiratory</a:t>
            </a:r>
          </a:p>
          <a:p>
            <a:r>
              <a:rPr lang="en-US" dirty="0"/>
              <a:t>Neuro</a:t>
            </a:r>
          </a:p>
          <a:p>
            <a:r>
              <a:rPr lang="en-US" dirty="0"/>
              <a:t>Endocrine</a:t>
            </a:r>
          </a:p>
          <a:p>
            <a:r>
              <a:rPr lang="en-US" dirty="0"/>
              <a:t>Renal</a:t>
            </a:r>
          </a:p>
          <a:p>
            <a:r>
              <a:rPr lang="en-US" dirty="0"/>
              <a:t>GI</a:t>
            </a:r>
          </a:p>
          <a:p>
            <a:r>
              <a:rPr lang="en-US" dirty="0"/>
              <a:t>Musculoskeletal</a:t>
            </a:r>
          </a:p>
          <a:p>
            <a:r>
              <a:rPr lang="en-US" dirty="0"/>
              <a:t>Emergency priorities</a:t>
            </a:r>
          </a:p>
          <a:p>
            <a:r>
              <a:rPr lang="en-US" dirty="0"/>
              <a:t>Each topic should include:</a:t>
            </a:r>
          </a:p>
          <a:p>
            <a:r>
              <a:rPr lang="en-US" dirty="0"/>
              <a:t>Full-length lecture recording</a:t>
            </a:r>
          </a:p>
          <a:p>
            <a:r>
              <a:rPr lang="en-US" dirty="0"/>
              <a:t>High-yield summary sheet</a:t>
            </a:r>
          </a:p>
          <a:p>
            <a:r>
              <a:rPr lang="en-US" dirty="0"/>
              <a:t>10–25 practice NCLEX-style questions</a:t>
            </a:r>
          </a:p>
          <a:p>
            <a:r>
              <a:rPr lang="en-US" dirty="0"/>
              <a:t>Case studies</a:t>
            </a:r>
          </a:p>
          <a:p>
            <a:endParaRPr lang="en-US" dirty="0"/>
          </a:p>
        </p:txBody>
      </p:sp>
    </p:spTree>
    <p:extLst>
      <p:ext uri="{BB962C8B-B14F-4D97-AF65-F5344CB8AC3E}">
        <p14:creationId xmlns:p14="http://schemas.microsoft.com/office/powerpoint/2010/main" val="2755025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8474E-5619-30A9-F96E-C8548E455EBD}"/>
              </a:ext>
            </a:extLst>
          </p:cNvPr>
          <p:cNvSpPr>
            <a:spLocks noGrp="1"/>
          </p:cNvSpPr>
          <p:nvPr>
            <p:ph type="title"/>
          </p:nvPr>
        </p:nvSpPr>
        <p:spPr/>
        <p:txBody>
          <a:bodyPr/>
          <a:lstStyle/>
          <a:p>
            <a:r>
              <a:rPr lang="en-US" b="1" dirty="0"/>
              <a:t> Pharmacology Simplified Section</a:t>
            </a:r>
            <a:br>
              <a:rPr lang="en-US" b="1" dirty="0"/>
            </a:br>
            <a:endParaRPr lang="en-US" dirty="0"/>
          </a:p>
        </p:txBody>
      </p:sp>
      <p:sp>
        <p:nvSpPr>
          <p:cNvPr id="3" name="Content Placeholder 2">
            <a:extLst>
              <a:ext uri="{FF2B5EF4-FFF2-40B4-BE49-F238E27FC236}">
                <a16:creationId xmlns:a16="http://schemas.microsoft.com/office/drawing/2014/main" id="{E922F7AC-3604-2E51-D222-82148E510FF5}"/>
              </a:ext>
            </a:extLst>
          </p:cNvPr>
          <p:cNvSpPr>
            <a:spLocks noGrp="1"/>
          </p:cNvSpPr>
          <p:nvPr>
            <p:ph idx="1"/>
          </p:nvPr>
        </p:nvSpPr>
        <p:spPr/>
        <p:txBody>
          <a:bodyPr>
            <a:normAutofit fontScale="55000" lnSpcReduction="20000"/>
          </a:bodyPr>
          <a:lstStyle/>
          <a:p>
            <a:r>
              <a:rPr lang="en-US" dirty="0"/>
              <a:t>Content:</a:t>
            </a:r>
          </a:p>
          <a:p>
            <a:r>
              <a:rPr lang="en-US" dirty="0"/>
              <a:t>Cardiac drugs</a:t>
            </a:r>
          </a:p>
          <a:p>
            <a:r>
              <a:rPr lang="en-US" dirty="0"/>
              <a:t>Antibiotics</a:t>
            </a:r>
          </a:p>
          <a:p>
            <a:r>
              <a:rPr lang="en-US" dirty="0"/>
              <a:t>Endocrine meds</a:t>
            </a:r>
          </a:p>
          <a:p>
            <a:r>
              <a:rPr lang="en-US" dirty="0"/>
              <a:t>Psych meds</a:t>
            </a:r>
          </a:p>
          <a:p>
            <a:r>
              <a:rPr lang="en-US" dirty="0"/>
              <a:t>Maternity meds</a:t>
            </a:r>
          </a:p>
          <a:p>
            <a:r>
              <a:rPr lang="en-US" dirty="0"/>
              <a:t>Anticoagulants</a:t>
            </a:r>
          </a:p>
          <a:p>
            <a:r>
              <a:rPr lang="en-US" dirty="0"/>
              <a:t>Insulin &amp; Diabetic meds</a:t>
            </a:r>
          </a:p>
          <a:p>
            <a:r>
              <a:rPr lang="en-US" dirty="0"/>
              <a:t>Each module includes:</a:t>
            </a:r>
          </a:p>
          <a:p>
            <a:r>
              <a:rPr lang="en-US" dirty="0"/>
              <a:t>Drug class breakdown</a:t>
            </a:r>
          </a:p>
          <a:p>
            <a:r>
              <a:rPr lang="en-US" dirty="0"/>
              <a:t>Memory tricks</a:t>
            </a:r>
          </a:p>
          <a:p>
            <a:r>
              <a:rPr lang="en-US" dirty="0"/>
              <a:t>NCLEX trap warnings</a:t>
            </a:r>
          </a:p>
          <a:p>
            <a:r>
              <a:rPr lang="en-US" dirty="0"/>
              <a:t>Practice questions</a:t>
            </a:r>
          </a:p>
          <a:p>
            <a:r>
              <a:rPr lang="en-US" dirty="0"/>
              <a:t>Medication safety alerts</a:t>
            </a:r>
          </a:p>
          <a:p>
            <a:endParaRPr lang="en-US" dirty="0"/>
          </a:p>
        </p:txBody>
      </p:sp>
    </p:spTree>
    <p:extLst>
      <p:ext uri="{BB962C8B-B14F-4D97-AF65-F5344CB8AC3E}">
        <p14:creationId xmlns:p14="http://schemas.microsoft.com/office/powerpoint/2010/main" val="4262405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062F2-9CAE-D43D-6A51-47676E123A29}"/>
              </a:ext>
            </a:extLst>
          </p:cNvPr>
          <p:cNvSpPr>
            <a:spLocks noGrp="1"/>
          </p:cNvSpPr>
          <p:nvPr>
            <p:ph type="title"/>
          </p:nvPr>
        </p:nvSpPr>
        <p:spPr/>
        <p:txBody>
          <a:bodyPr/>
          <a:lstStyle/>
          <a:p>
            <a:r>
              <a:rPr lang="en-US" b="1" dirty="0"/>
              <a:t>Mom &amp; Baby (OB + Peds)</a:t>
            </a:r>
            <a:br>
              <a:rPr lang="en-US" b="1" dirty="0"/>
            </a:br>
            <a:endParaRPr lang="en-US" dirty="0"/>
          </a:p>
        </p:txBody>
      </p:sp>
      <p:sp>
        <p:nvSpPr>
          <p:cNvPr id="3" name="Content Placeholder 2">
            <a:extLst>
              <a:ext uri="{FF2B5EF4-FFF2-40B4-BE49-F238E27FC236}">
                <a16:creationId xmlns:a16="http://schemas.microsoft.com/office/drawing/2014/main" id="{5152A436-9EE8-9628-C923-0FDE15E8367D}"/>
              </a:ext>
            </a:extLst>
          </p:cNvPr>
          <p:cNvSpPr>
            <a:spLocks noGrp="1"/>
          </p:cNvSpPr>
          <p:nvPr>
            <p:ph idx="1"/>
          </p:nvPr>
        </p:nvSpPr>
        <p:spPr/>
        <p:txBody>
          <a:bodyPr>
            <a:normAutofit fontScale="62500" lnSpcReduction="20000"/>
          </a:bodyPr>
          <a:lstStyle/>
          <a:p>
            <a:r>
              <a:rPr lang="en-US" dirty="0"/>
              <a:t>Sections:</a:t>
            </a:r>
          </a:p>
          <a:p>
            <a:r>
              <a:rPr lang="en-US" dirty="0"/>
              <a:t>Antepartum</a:t>
            </a:r>
          </a:p>
          <a:p>
            <a:r>
              <a:rPr lang="en-US" dirty="0"/>
              <a:t>Labor &amp; Delivery</a:t>
            </a:r>
          </a:p>
          <a:p>
            <a:r>
              <a:rPr lang="en-US" dirty="0"/>
              <a:t>Postpartum</a:t>
            </a:r>
          </a:p>
          <a:p>
            <a:r>
              <a:rPr lang="en-US" dirty="0"/>
              <a:t>Newborn</a:t>
            </a:r>
          </a:p>
          <a:p>
            <a:r>
              <a:rPr lang="en-US" dirty="0"/>
              <a:t>Pediatric respiratory</a:t>
            </a:r>
          </a:p>
          <a:p>
            <a:r>
              <a:rPr lang="en-US" dirty="0"/>
              <a:t>Pediatric emergencies</a:t>
            </a:r>
          </a:p>
          <a:p>
            <a:r>
              <a:rPr lang="en-US" dirty="0"/>
              <a:t>Include:</a:t>
            </a:r>
          </a:p>
          <a:p>
            <a:r>
              <a:rPr lang="en-US" dirty="0"/>
              <a:t>Recordings</a:t>
            </a:r>
          </a:p>
          <a:p>
            <a:r>
              <a:rPr lang="en-US" dirty="0"/>
              <a:t>Fetal monitoring breakdowns</a:t>
            </a:r>
          </a:p>
          <a:p>
            <a:r>
              <a:rPr lang="en-US" dirty="0"/>
              <a:t>OB medications</a:t>
            </a:r>
          </a:p>
          <a:p>
            <a:r>
              <a:rPr lang="en-US" dirty="0"/>
              <a:t>Pediatric prioritization questions</a:t>
            </a:r>
          </a:p>
          <a:p>
            <a:r>
              <a:rPr lang="en-US" dirty="0"/>
              <a:t>Isolation precautions review</a:t>
            </a:r>
          </a:p>
          <a:p>
            <a:endParaRPr lang="en-US" dirty="0"/>
          </a:p>
        </p:txBody>
      </p:sp>
    </p:spTree>
    <p:extLst>
      <p:ext uri="{BB962C8B-B14F-4D97-AF65-F5344CB8AC3E}">
        <p14:creationId xmlns:p14="http://schemas.microsoft.com/office/powerpoint/2010/main" val="3244342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F5156-D46C-0C01-3501-B0ECF5DBBDAD}"/>
              </a:ext>
            </a:extLst>
          </p:cNvPr>
          <p:cNvSpPr>
            <a:spLocks noGrp="1"/>
          </p:cNvSpPr>
          <p:nvPr>
            <p:ph type="title"/>
          </p:nvPr>
        </p:nvSpPr>
        <p:spPr/>
        <p:txBody>
          <a:bodyPr/>
          <a:lstStyle/>
          <a:p>
            <a:r>
              <a:rPr lang="en-US" b="1" dirty="0"/>
              <a:t> Mental Health (Psych)</a:t>
            </a:r>
            <a:br>
              <a:rPr lang="en-US" b="1" dirty="0"/>
            </a:br>
            <a:endParaRPr lang="en-US" dirty="0"/>
          </a:p>
        </p:txBody>
      </p:sp>
      <p:sp>
        <p:nvSpPr>
          <p:cNvPr id="3" name="Content Placeholder 2">
            <a:extLst>
              <a:ext uri="{FF2B5EF4-FFF2-40B4-BE49-F238E27FC236}">
                <a16:creationId xmlns:a16="http://schemas.microsoft.com/office/drawing/2014/main" id="{345B5F27-CA02-7914-B3DD-A2C512E70776}"/>
              </a:ext>
            </a:extLst>
          </p:cNvPr>
          <p:cNvSpPr>
            <a:spLocks noGrp="1"/>
          </p:cNvSpPr>
          <p:nvPr>
            <p:ph idx="1"/>
          </p:nvPr>
        </p:nvSpPr>
        <p:spPr/>
        <p:txBody>
          <a:bodyPr>
            <a:normAutofit fontScale="62500" lnSpcReduction="20000"/>
          </a:bodyPr>
          <a:lstStyle/>
          <a:p>
            <a:r>
              <a:rPr lang="en-US" dirty="0"/>
              <a:t>Sections:</a:t>
            </a:r>
          </a:p>
          <a:p>
            <a:r>
              <a:rPr lang="en-US" dirty="0"/>
              <a:t>Therapeutic communication</a:t>
            </a:r>
          </a:p>
          <a:p>
            <a:r>
              <a:rPr lang="en-US" dirty="0"/>
              <a:t>Defense mechanisms</a:t>
            </a:r>
          </a:p>
          <a:p>
            <a:r>
              <a:rPr lang="en-US" dirty="0"/>
              <a:t>Schizophrenia</a:t>
            </a:r>
          </a:p>
          <a:p>
            <a:r>
              <a:rPr lang="en-US" dirty="0"/>
              <a:t>Bipolar</a:t>
            </a:r>
          </a:p>
          <a:p>
            <a:r>
              <a:rPr lang="en-US" dirty="0"/>
              <a:t>Depression</a:t>
            </a:r>
          </a:p>
          <a:p>
            <a:r>
              <a:rPr lang="en-US" dirty="0"/>
              <a:t>Anxiety</a:t>
            </a:r>
          </a:p>
          <a:p>
            <a:r>
              <a:rPr lang="en-US" dirty="0"/>
              <a:t>Substance withdrawal</a:t>
            </a:r>
          </a:p>
          <a:p>
            <a:r>
              <a:rPr lang="en-US" dirty="0"/>
              <a:t>Crisis intervention</a:t>
            </a:r>
          </a:p>
          <a:p>
            <a:r>
              <a:rPr lang="en-US" dirty="0"/>
              <a:t>Include:</a:t>
            </a:r>
          </a:p>
          <a:p>
            <a:r>
              <a:rPr lang="en-US" dirty="0"/>
              <a:t>Scenario-based questions</a:t>
            </a:r>
          </a:p>
          <a:p>
            <a:r>
              <a:rPr lang="en-US" dirty="0"/>
              <a:t>What to say / What NOT to say practice</a:t>
            </a:r>
          </a:p>
          <a:p>
            <a:r>
              <a:rPr lang="en-US" dirty="0"/>
              <a:t>Safety priority questions</a:t>
            </a:r>
          </a:p>
          <a:p>
            <a:endParaRPr lang="en-US" dirty="0"/>
          </a:p>
        </p:txBody>
      </p:sp>
    </p:spTree>
    <p:extLst>
      <p:ext uri="{BB962C8B-B14F-4D97-AF65-F5344CB8AC3E}">
        <p14:creationId xmlns:p14="http://schemas.microsoft.com/office/powerpoint/2010/main" val="3959162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2C827-D6D4-3FEC-9F38-3DF9EFA82136}"/>
              </a:ext>
            </a:extLst>
          </p:cNvPr>
          <p:cNvSpPr>
            <a:spLocks noGrp="1"/>
          </p:cNvSpPr>
          <p:nvPr>
            <p:ph type="title"/>
          </p:nvPr>
        </p:nvSpPr>
        <p:spPr/>
        <p:txBody>
          <a:bodyPr>
            <a:normAutofit fontScale="90000"/>
          </a:bodyPr>
          <a:lstStyle/>
          <a:p>
            <a:r>
              <a:rPr lang="en-US" b="1" dirty="0"/>
              <a:t>QUESTION BANK SECTION (VERY IMPORTANT)</a:t>
            </a:r>
            <a:br>
              <a:rPr lang="en-US" b="1" dirty="0"/>
            </a:br>
            <a:endParaRPr lang="en-US" dirty="0"/>
          </a:p>
        </p:txBody>
      </p:sp>
      <p:sp>
        <p:nvSpPr>
          <p:cNvPr id="3" name="Content Placeholder 2">
            <a:extLst>
              <a:ext uri="{FF2B5EF4-FFF2-40B4-BE49-F238E27FC236}">
                <a16:creationId xmlns:a16="http://schemas.microsoft.com/office/drawing/2014/main" id="{C6FAB769-615C-71C6-8F77-0EF981BD5A4A}"/>
              </a:ext>
            </a:extLst>
          </p:cNvPr>
          <p:cNvSpPr>
            <a:spLocks noGrp="1"/>
          </p:cNvSpPr>
          <p:nvPr>
            <p:ph idx="1"/>
          </p:nvPr>
        </p:nvSpPr>
        <p:spPr/>
        <p:txBody>
          <a:bodyPr>
            <a:normAutofit lnSpcReduction="10000"/>
          </a:bodyPr>
          <a:lstStyle/>
          <a:p>
            <a:r>
              <a:rPr lang="en-US" dirty="0"/>
              <a:t>should have a separate tab labeled:</a:t>
            </a:r>
          </a:p>
          <a:p>
            <a:r>
              <a:rPr lang="en-US" b="1" dirty="0"/>
              <a:t>NCLEX Question Lab</a:t>
            </a:r>
          </a:p>
          <a:p>
            <a:r>
              <a:rPr lang="en-US" dirty="0"/>
              <a:t>Features to request:</a:t>
            </a:r>
          </a:p>
          <a:p>
            <a:r>
              <a:rPr lang="en-US" dirty="0"/>
              <a:t>Timed quizzes</a:t>
            </a:r>
          </a:p>
          <a:p>
            <a:r>
              <a:rPr lang="en-US" dirty="0"/>
              <a:t>By subject option (Med-Surg, Pharm, OB, Psych)</a:t>
            </a:r>
          </a:p>
          <a:p>
            <a:r>
              <a:rPr lang="en-US" dirty="0"/>
              <a:t>Mixed exam mode</a:t>
            </a:r>
          </a:p>
          <a:p>
            <a:r>
              <a:rPr lang="en-US" dirty="0"/>
              <a:t>Rationales after each question</a:t>
            </a:r>
          </a:p>
          <a:p>
            <a:r>
              <a:rPr lang="en-US" dirty="0"/>
              <a:t>Case-study style questions</a:t>
            </a:r>
          </a:p>
          <a:p>
            <a:r>
              <a:rPr lang="en-US" dirty="0"/>
              <a:t>SATA practice</a:t>
            </a:r>
          </a:p>
          <a:p>
            <a:endParaRPr lang="en-US" dirty="0"/>
          </a:p>
        </p:txBody>
      </p:sp>
    </p:spTree>
    <p:extLst>
      <p:ext uri="{BB962C8B-B14F-4D97-AF65-F5344CB8AC3E}">
        <p14:creationId xmlns:p14="http://schemas.microsoft.com/office/powerpoint/2010/main" val="2923294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D707F-0FA8-6E72-5C34-25FD5C6C23CD}"/>
              </a:ext>
            </a:extLst>
          </p:cNvPr>
          <p:cNvSpPr>
            <a:spLocks noGrp="1"/>
          </p:cNvSpPr>
          <p:nvPr>
            <p:ph type="title"/>
          </p:nvPr>
        </p:nvSpPr>
        <p:spPr/>
        <p:txBody>
          <a:bodyPr/>
          <a:lstStyle/>
          <a:p>
            <a:r>
              <a:rPr lang="en-US" b="1" dirty="0"/>
              <a:t> RESOURCE LIBRARY</a:t>
            </a:r>
            <a:br>
              <a:rPr lang="en-US" b="1" dirty="0"/>
            </a:br>
            <a:endParaRPr lang="en-US" dirty="0"/>
          </a:p>
        </p:txBody>
      </p:sp>
      <p:sp>
        <p:nvSpPr>
          <p:cNvPr id="3" name="Content Placeholder 2">
            <a:extLst>
              <a:ext uri="{FF2B5EF4-FFF2-40B4-BE49-F238E27FC236}">
                <a16:creationId xmlns:a16="http://schemas.microsoft.com/office/drawing/2014/main" id="{A83EF421-8A64-943F-B86C-E05F974CB353}"/>
              </a:ext>
            </a:extLst>
          </p:cNvPr>
          <p:cNvSpPr>
            <a:spLocks noGrp="1"/>
          </p:cNvSpPr>
          <p:nvPr>
            <p:ph idx="1"/>
          </p:nvPr>
        </p:nvSpPr>
        <p:spPr/>
        <p:txBody>
          <a:bodyPr>
            <a:normAutofit/>
          </a:bodyPr>
          <a:lstStyle/>
          <a:p>
            <a:r>
              <a:rPr lang="en-US" dirty="0"/>
              <a:t>Downloadable materials:</a:t>
            </a:r>
          </a:p>
          <a:p>
            <a:r>
              <a:rPr lang="en-US" dirty="0"/>
              <a:t>NCLEX Study Calendar</a:t>
            </a:r>
          </a:p>
          <a:p>
            <a:r>
              <a:rPr lang="en-US" dirty="0"/>
              <a:t>Lab value sheets</a:t>
            </a:r>
          </a:p>
          <a:p>
            <a:r>
              <a:rPr lang="en-US" dirty="0"/>
              <a:t>Isolation precaution chart</a:t>
            </a:r>
          </a:p>
          <a:p>
            <a:r>
              <a:rPr lang="en-US" dirty="0"/>
              <a:t>Pharmacology memory guides</a:t>
            </a:r>
          </a:p>
          <a:p>
            <a:r>
              <a:rPr lang="en-US" dirty="0"/>
              <a:t>Prioritization framework sheets</a:t>
            </a:r>
          </a:p>
          <a:p>
            <a:r>
              <a:rPr lang="en-US" dirty="0"/>
              <a:t>ABC/Maslow cheat sheet</a:t>
            </a:r>
          </a:p>
          <a:p>
            <a:r>
              <a:rPr lang="en-US" dirty="0"/>
              <a:t>NCSBN test plan breakdown</a:t>
            </a:r>
          </a:p>
          <a:p>
            <a:endParaRPr lang="en-US" dirty="0"/>
          </a:p>
        </p:txBody>
      </p:sp>
    </p:spTree>
    <p:extLst>
      <p:ext uri="{BB962C8B-B14F-4D97-AF65-F5344CB8AC3E}">
        <p14:creationId xmlns:p14="http://schemas.microsoft.com/office/powerpoint/2010/main" val="3161465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5E4EA-96B2-8CD7-A241-8D33D2F79140}"/>
              </a:ext>
            </a:extLst>
          </p:cNvPr>
          <p:cNvSpPr>
            <a:spLocks noGrp="1"/>
          </p:cNvSpPr>
          <p:nvPr>
            <p:ph type="title"/>
          </p:nvPr>
        </p:nvSpPr>
        <p:spPr/>
        <p:txBody>
          <a:bodyPr/>
          <a:lstStyle/>
          <a:p>
            <a:r>
              <a:rPr lang="en-US" b="1" dirty="0"/>
              <a:t>BOOKING SECTION</a:t>
            </a:r>
            <a:br>
              <a:rPr lang="en-US" b="1" dirty="0"/>
            </a:br>
            <a:endParaRPr lang="en-US" dirty="0"/>
          </a:p>
        </p:txBody>
      </p:sp>
      <p:sp>
        <p:nvSpPr>
          <p:cNvPr id="3" name="Content Placeholder 2">
            <a:extLst>
              <a:ext uri="{FF2B5EF4-FFF2-40B4-BE49-F238E27FC236}">
                <a16:creationId xmlns:a16="http://schemas.microsoft.com/office/drawing/2014/main" id="{9ECF2E8A-2F62-DB16-9757-7B167ECB14AD}"/>
              </a:ext>
            </a:extLst>
          </p:cNvPr>
          <p:cNvSpPr>
            <a:spLocks noGrp="1"/>
          </p:cNvSpPr>
          <p:nvPr>
            <p:ph idx="1"/>
          </p:nvPr>
        </p:nvSpPr>
        <p:spPr/>
        <p:txBody>
          <a:bodyPr/>
          <a:lstStyle/>
          <a:p>
            <a:r>
              <a:rPr lang="en-US" dirty="0"/>
              <a:t>1:1 tutoring booking</a:t>
            </a:r>
          </a:p>
          <a:p>
            <a:r>
              <a:rPr lang="en-US" dirty="0"/>
              <a:t>Strategy consultation</a:t>
            </a:r>
          </a:p>
          <a:p>
            <a:r>
              <a:rPr lang="en-US" dirty="0"/>
              <a:t>Intensive cram session</a:t>
            </a:r>
          </a:p>
          <a:p>
            <a:r>
              <a:rPr lang="en-US" dirty="0"/>
              <a:t>Faculty-led review course enrollment</a:t>
            </a:r>
          </a:p>
          <a:p>
            <a:r>
              <a:rPr lang="en-US" dirty="0"/>
              <a:t>Integrated calendar (Calendly or similar)</a:t>
            </a:r>
          </a:p>
          <a:p>
            <a:endParaRPr lang="en-US" dirty="0"/>
          </a:p>
        </p:txBody>
      </p:sp>
    </p:spTree>
    <p:extLst>
      <p:ext uri="{BB962C8B-B14F-4D97-AF65-F5344CB8AC3E}">
        <p14:creationId xmlns:p14="http://schemas.microsoft.com/office/powerpoint/2010/main" val="23087767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22</TotalTime>
  <Words>1133</Words>
  <Application>Microsoft Office PowerPoint</Application>
  <PresentationFormat>Widescreen</PresentationFormat>
  <Paragraphs>210</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 \    Horizonu Health &amp; Education LLC NCLEX Review &amp; Nursing Tutoring Services </vt:lpstr>
      <vt:lpstr>Mission Statement </vt:lpstr>
      <vt:lpstr>Vision Statement </vt:lpstr>
      <vt:lpstr>Website Layout Proposal Horizonu Health &amp; Education LLC NCLEX Review &amp; Nursing Tutoring Services </vt:lpstr>
      <vt:lpstr>Why Choose Horizonu? </vt:lpstr>
      <vt:lpstr>ABOUT PAGE </vt:lpstr>
      <vt:lpstr>SERVICES PAGE </vt:lpstr>
      <vt:lpstr>Nursing School Support (Pre-NCLEX) </vt:lpstr>
      <vt:lpstr> HOW IT WORKS PAGE </vt:lpstr>
      <vt:lpstr> RESULTS / TESTIMONIALS PAGE </vt:lpstr>
      <vt:lpstr>FAQ PAGE </vt:lpstr>
      <vt:lpstr>CONTACT PAGE </vt:lpstr>
      <vt:lpstr>Design Direction for Web Designer </vt:lpstr>
      <vt:lpstr>WEBSITE STRUCTURE Horizonu Health &amp; Education LLC NCLEX Review &amp; Digital Learning Platform </vt:lpstr>
      <vt:lpstr>STUDENT DASHBOARD LAYOUT </vt:lpstr>
      <vt:lpstr>COURSE LIBRARY SECTION </vt:lpstr>
      <vt:lpstr>Med-Surg Mastery Section </vt:lpstr>
      <vt:lpstr> Pharmacology Simplified Section </vt:lpstr>
      <vt:lpstr>Mom &amp; Baby (OB + Peds) </vt:lpstr>
      <vt:lpstr> Mental Health (Psych) </vt:lpstr>
      <vt:lpstr>QUESTION BANK SECTION (VERY IMPORTANT) </vt:lpstr>
      <vt:lpstr> RESOURCE LIBRARY </vt:lpstr>
      <vt:lpstr>BOOKING SECTION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Veronica Adomaa</dc:creator>
  <cp:lastModifiedBy>Veronica Adomaa</cp:lastModifiedBy>
  <cp:revision>1</cp:revision>
  <dcterms:created xsi:type="dcterms:W3CDTF">2026-02-28T04:52:28Z</dcterms:created>
  <dcterms:modified xsi:type="dcterms:W3CDTF">2026-02-28T05:14:56Z</dcterms:modified>
</cp:coreProperties>
</file>